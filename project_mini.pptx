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7" r:id="rId7"/>
    <p:sldId id="261" r:id="rId8"/>
    <p:sldId id="262" r:id="rId9"/>
    <p:sldId id="263" r:id="rId10"/>
    <p:sldId id="264" r:id="rId11"/>
    <p:sldId id="269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6415"/>
            <a:ext cx="12192000" cy="48158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5079"/>
            <a:ext cx="12192000" cy="502920"/>
          </a:xfrm>
          <a:custGeom>
            <a:avLst/>
            <a:gdLst/>
            <a:ahLst/>
            <a:cxnLst/>
            <a:rect l="l" t="t" r="r" b="b"/>
            <a:pathLst>
              <a:path w="12192000" h="502920">
                <a:moveTo>
                  <a:pt x="12192000" y="0"/>
                </a:moveTo>
                <a:lnTo>
                  <a:pt x="0" y="0"/>
                </a:lnTo>
                <a:lnTo>
                  <a:pt x="0" y="502920"/>
                </a:lnTo>
                <a:lnTo>
                  <a:pt x="12192000" y="5029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10232" y="125095"/>
            <a:ext cx="7460233" cy="992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2557729"/>
            <a:ext cx="9227185" cy="173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62271" y="6445817"/>
            <a:ext cx="257492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10873" y="6445817"/>
            <a:ext cx="23177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archive.ics.uci.edu" TargetMode="External"/><Relationship Id="rId3" Type="http://schemas.openxmlformats.org/officeDocument/2006/relationships/image" Target="../media/image14.png"/><Relationship Id="rId7" Type="http://schemas.openxmlformats.org/officeDocument/2006/relationships/hyperlink" Target="https://plotly.com/python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reamlit.io" TargetMode="External"/><Relationship Id="rId5" Type="http://schemas.openxmlformats.org/officeDocument/2006/relationships/hyperlink" Target="https://scikit-learn.org" TargetMode="External"/><Relationship Id="rId4" Type="http://schemas.openxmlformats.org/officeDocument/2006/relationships/hyperlink" Target="https://archive.ics.uci.edu/dataset/320/student+performance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10232" y="153161"/>
            <a:ext cx="68027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3991610" algn="l"/>
              </a:tabLst>
            </a:pPr>
            <a:r>
              <a:rPr sz="4000" u="sng" spc="95" dirty="0">
                <a:solidFill>
                  <a:srgbClr val="1F487C"/>
                </a:solidFill>
              </a:rPr>
              <a:t>MINI</a:t>
            </a:r>
            <a:r>
              <a:rPr sz="4000" u="sng" spc="5" dirty="0">
                <a:solidFill>
                  <a:srgbClr val="1F487C"/>
                </a:solidFill>
              </a:rPr>
              <a:t> </a:t>
            </a:r>
            <a:r>
              <a:rPr sz="4000" u="sng" spc="-10" dirty="0">
                <a:solidFill>
                  <a:srgbClr val="1F487C"/>
                </a:solidFill>
              </a:rPr>
              <a:t>PROJECT</a:t>
            </a:r>
            <a:r>
              <a:rPr sz="4000" u="sng" dirty="0">
                <a:solidFill>
                  <a:srgbClr val="1F487C"/>
                </a:solidFill>
              </a:rPr>
              <a:t>	</a:t>
            </a:r>
            <a:r>
              <a:rPr sz="4000" u="sng" spc="185" dirty="0">
                <a:solidFill>
                  <a:srgbClr val="1F487C"/>
                </a:solidFill>
              </a:rPr>
              <a:t>II</a:t>
            </a:r>
            <a:r>
              <a:rPr sz="4000" u="sng" spc="35" dirty="0">
                <a:solidFill>
                  <a:srgbClr val="1F487C"/>
                </a:solidFill>
              </a:rPr>
              <a:t> </a:t>
            </a:r>
            <a:r>
              <a:rPr sz="4000" u="sng" spc="-80" dirty="0">
                <a:solidFill>
                  <a:srgbClr val="1F487C"/>
                </a:solidFill>
              </a:rPr>
              <a:t>YEAR</a:t>
            </a:r>
            <a:endParaRPr sz="4000" u="sng" dirty="0"/>
          </a:p>
        </p:txBody>
      </p:sp>
      <p:sp>
        <p:nvSpPr>
          <p:cNvPr id="4" name="object 4"/>
          <p:cNvSpPr txBox="1"/>
          <p:nvPr/>
        </p:nvSpPr>
        <p:spPr>
          <a:xfrm>
            <a:off x="396876" y="1979741"/>
            <a:ext cx="9204324" cy="35727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 dirty="0"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 dirty="0">
                <a:latin typeface="Arial"/>
                <a:cs typeface="Arial"/>
              </a:rPr>
              <a:t>Problem</a:t>
            </a:r>
            <a:r>
              <a:rPr b="1" spc="-8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Statement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Title-</a:t>
            </a:r>
            <a:r>
              <a:rPr lang="en-IN" b="1" spc="-10" dirty="0">
                <a:latin typeface="Arial"/>
                <a:cs typeface="Arial"/>
              </a:rPr>
              <a:t> </a:t>
            </a:r>
            <a:r>
              <a:rPr lang="en-US" dirty="0"/>
              <a:t>Student Performance Prediction 						    	    using Explainable AI</a:t>
            </a: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</a:tabLst>
            </a:pPr>
            <a:r>
              <a:rPr b="1" dirty="0">
                <a:latin typeface="Arial"/>
                <a:cs typeface="Arial"/>
              </a:rPr>
              <a:t>PS</a:t>
            </a:r>
            <a:r>
              <a:rPr b="1" spc="-6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Category-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Software</a:t>
            </a:r>
            <a:endParaRPr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dirty="0">
              <a:latin typeface="Arial"/>
              <a:cs typeface="Arial"/>
            </a:endParaRPr>
          </a:p>
          <a:p>
            <a:pPr marL="297815" indent="-285115">
              <a:buFont typeface="Arial MT"/>
              <a:buChar char="•"/>
              <a:tabLst>
                <a:tab pos="297815" algn="l"/>
              </a:tabLst>
            </a:pPr>
            <a:r>
              <a:rPr b="1" dirty="0">
                <a:latin typeface="Arial"/>
                <a:cs typeface="Arial"/>
              </a:rPr>
              <a:t>Student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Name</a:t>
            </a:r>
            <a:r>
              <a:rPr lang="en-IN" b="1" spc="-10" dirty="0">
                <a:latin typeface="Arial"/>
                <a:cs typeface="Arial"/>
              </a:rPr>
              <a:t> and </a:t>
            </a:r>
            <a:r>
              <a:rPr lang="en-IN" b="1" dirty="0">
                <a:latin typeface="Arial"/>
                <a:cs typeface="Arial"/>
              </a:rPr>
              <a:t>Roll</a:t>
            </a:r>
            <a:r>
              <a:rPr lang="en-IN" b="1" spc="-25" dirty="0">
                <a:latin typeface="Arial"/>
                <a:cs typeface="Arial"/>
              </a:rPr>
              <a:t> No:</a:t>
            </a:r>
            <a:r>
              <a:rPr lang="en-IN" spc="-25" dirty="0">
                <a:latin typeface="Arial"/>
                <a:cs typeface="Arial"/>
              </a:rPr>
              <a:t> Ravi Gupta (2401331520157)</a:t>
            </a:r>
          </a:p>
          <a:p>
            <a:pPr marL="12700">
              <a:tabLst>
                <a:tab pos="297815" algn="l"/>
              </a:tabLst>
            </a:pPr>
            <a:r>
              <a:rPr lang="en-IN" spc="-25" dirty="0">
                <a:latin typeface="Arial"/>
                <a:cs typeface="Arial"/>
              </a:rPr>
              <a:t>				         Sandeep Kumar Maurya (2401331520165)</a:t>
            </a:r>
          </a:p>
          <a:p>
            <a:pPr marL="12700">
              <a:tabLst>
                <a:tab pos="297815" algn="l"/>
              </a:tabLst>
            </a:pPr>
            <a:r>
              <a:rPr lang="en-IN" spc="-25" dirty="0">
                <a:latin typeface="Arial"/>
                <a:cs typeface="Arial"/>
              </a:rPr>
              <a:t>				         Pushpendra Singh (2401331520152)</a:t>
            </a:r>
            <a:endParaRPr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b="1" dirty="0">
                <a:latin typeface="Arial"/>
                <a:cs typeface="Arial"/>
              </a:rPr>
              <a:t>Guide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Name:</a:t>
            </a:r>
            <a:r>
              <a:rPr lang="en-IN" b="1" spc="-10" dirty="0">
                <a:latin typeface="Arial"/>
                <a:cs typeface="Arial"/>
              </a:rPr>
              <a:t> </a:t>
            </a:r>
            <a:r>
              <a:rPr lang="en-IN" spc="-10" dirty="0" err="1">
                <a:latin typeface="Arial"/>
                <a:cs typeface="Arial"/>
              </a:rPr>
              <a:t>Ms.Ishakshi</a:t>
            </a:r>
            <a:r>
              <a:rPr lang="en-IN" spc="-10" dirty="0">
                <a:latin typeface="Arial"/>
                <a:cs typeface="Arial"/>
              </a:rPr>
              <a:t> Gupta </a:t>
            </a:r>
            <a:endParaRPr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7067" y="174406"/>
            <a:ext cx="2625852" cy="10195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7988" y="3690243"/>
            <a:ext cx="3144011" cy="3133344"/>
          </a:xfrm>
          <a:prstGeom prst="rect">
            <a:avLst/>
          </a:prstGeom>
        </p:spPr>
      </p:pic>
      <p:sp>
        <p:nvSpPr>
          <p:cNvPr id="7" name="object 2"/>
          <p:cNvSpPr txBox="1"/>
          <p:nvPr/>
        </p:nvSpPr>
        <p:spPr>
          <a:xfrm>
            <a:off x="2590800" y="1253489"/>
            <a:ext cx="6553200" cy="150361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n-US" sz="3200" b="1" u="sng" dirty="0">
                <a:solidFill>
                  <a:schemeClr val="accent3">
                    <a:lumMod val="75000"/>
                  </a:schemeClr>
                </a:solidFill>
              </a:rPr>
              <a:t>Student Performance Analytics using Explainable AI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2400" y="1143001"/>
            <a:ext cx="12039600" cy="53610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200000"/>
              </a:lnSpc>
              <a:spcBef>
                <a:spcPts val="1140"/>
              </a:spcBef>
            </a:pPr>
            <a:r>
              <a:rPr lang="en-US" sz="1600" dirty="0"/>
              <a:t>Educational institutions often fail to identify at-risk students early enough to provide timely intervention. This project predicts a student's final grade and explains </a:t>
            </a:r>
            <a:r>
              <a:rPr lang="en-US" sz="1600" i="1" dirty="0"/>
              <a:t>why</a:t>
            </a:r>
            <a:r>
              <a:rPr lang="en-US" sz="1600" dirty="0"/>
              <a:t> that prediction was made, using Explainable AI techniques.</a:t>
            </a:r>
          </a:p>
          <a:p>
            <a:pPr>
              <a:lnSpc>
                <a:spcPct val="200000"/>
              </a:lnSpc>
              <a:spcBef>
                <a:spcPts val="1140"/>
              </a:spcBef>
            </a:pP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24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Solves the Problem 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Predicts final grade (0–20) using academic factors: prior grades, study time, absences, failures, and educational support.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Normalised</a:t>
            </a:r>
            <a:r>
              <a:rPr lang="en-US" sz="1600" dirty="0"/>
              <a:t> model gives G1 and G2 equal weight (32% each) for balanced prediction.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Feature importance explain each prediction.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What-If simulator shows how improving one factor changes the outcome.</a:t>
            </a:r>
          </a:p>
          <a:p>
            <a:pPr marL="285750" indent="-285750">
              <a:spcBef>
                <a:spcPts val="114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62271" y="6445817"/>
            <a:ext cx="25749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lang="en-IN" spc="-10" dirty="0"/>
              <a:t> </a:t>
            </a:r>
            <a:r>
              <a:rPr dirty="0"/>
              <a:t>II </a:t>
            </a:r>
            <a:r>
              <a:rPr spc="-20" dirty="0"/>
              <a:t> YEAR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F4B3389-1E71-5CD7-24CB-4292E7824145}"/>
              </a:ext>
            </a:extLst>
          </p:cNvPr>
          <p:cNvSpPr txBox="1"/>
          <p:nvPr/>
        </p:nvSpPr>
        <p:spPr>
          <a:xfrm>
            <a:off x="3810000" y="324420"/>
            <a:ext cx="65532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200" b="1" u="sng" dirty="0">
                <a:solidFill>
                  <a:schemeClr val="tx2"/>
                </a:solidFill>
                <a:latin typeface="Times New Roman"/>
                <a:cs typeface="Times New Roman"/>
              </a:rPr>
              <a:t>Proposed Solution</a:t>
            </a:r>
            <a:endParaRPr sz="3200" b="1" u="sng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5638800" cy="5289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3.12.1x</a:t>
            </a:r>
          </a:p>
          <a:p>
            <a:pPr>
              <a:lnSpc>
                <a:spcPct val="150000"/>
              </a:lnSpc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Framework 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Library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>
              <a:lnSpc>
                <a:spcPct val="150000"/>
              </a:lnSpc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 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Matplotlib, Seaborn</a:t>
            </a:r>
          </a:p>
          <a:p>
            <a:pPr>
              <a:lnSpc>
                <a:spcPct val="150000"/>
              </a:lnSpc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</a:t>
            </a:r>
          </a:p>
          <a:p>
            <a:pPr>
              <a:lnSpc>
                <a:spcPct val="150000"/>
              </a:lnSpc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: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UCI Student Performance (student-mat.csv + student-por.csv)</a:t>
            </a:r>
          </a:p>
          <a:p>
            <a:pPr marL="12700" marR="5080">
              <a:lnSpc>
                <a:spcPct val="150000"/>
              </a:lnSpc>
              <a:spcBef>
                <a:spcPts val="95"/>
              </a:spcBef>
              <a:tabLst>
                <a:tab pos="355600" algn="l"/>
              </a:tabLst>
            </a:pPr>
            <a:endParaRPr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7652" y="32003"/>
            <a:ext cx="2630424" cy="101955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962271" y="6445817"/>
            <a:ext cx="25749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</a:t>
            </a:r>
            <a:r>
              <a:rPr spc="-20" dirty="0"/>
              <a:t> YEAR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DDCC50-14D2-C3A9-36D3-DD836D2298CF}"/>
              </a:ext>
            </a:extLst>
          </p:cNvPr>
          <p:cNvSpPr txBox="1"/>
          <p:nvPr/>
        </p:nvSpPr>
        <p:spPr>
          <a:xfrm>
            <a:off x="3311652" y="24939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200" b="1" u="sng" dirty="0">
                <a:solidFill>
                  <a:schemeClr val="tx2"/>
                </a:solidFill>
                <a:latin typeface="Times New Roman"/>
                <a:cs typeface="Times New Roman"/>
              </a:rPr>
              <a:t>Technical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637B8830-72D1-952E-BA90-EE25A2C94B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11658600" cy="47820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600" dirty="0"/>
              <a:t>Load student-mat.csv + student-por.csv → combine into </a:t>
            </a:r>
            <a:r>
              <a:rPr lang="en-IN" sz="1600" b="1" dirty="0"/>
              <a:t>1,044 records</a:t>
            </a:r>
            <a:endParaRPr lang="en-IN" sz="16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600" dirty="0"/>
              <a:t>Select </a:t>
            </a:r>
            <a:r>
              <a:rPr lang="en-IN" sz="1600" b="1" dirty="0"/>
              <a:t>8 features</a:t>
            </a:r>
            <a:r>
              <a:rPr lang="en-IN" sz="1600" dirty="0"/>
              <a:t>: G1, G2, </a:t>
            </a:r>
            <a:r>
              <a:rPr lang="en-IN" sz="1600" dirty="0" err="1"/>
              <a:t>studytime</a:t>
            </a:r>
            <a:r>
              <a:rPr lang="en-IN" sz="1600" dirty="0"/>
              <a:t>, absences, failures, </a:t>
            </a:r>
            <a:r>
              <a:rPr lang="en-IN" sz="1600" dirty="0" err="1"/>
              <a:t>schoolsup</a:t>
            </a:r>
            <a:r>
              <a:rPr lang="en-IN" sz="1600" dirty="0"/>
              <a:t>, </a:t>
            </a:r>
            <a:r>
              <a:rPr lang="en-IN" sz="1600" dirty="0" err="1"/>
              <a:t>famsup</a:t>
            </a:r>
            <a:r>
              <a:rPr lang="en-IN" sz="1600" dirty="0"/>
              <a:t>, subject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600" dirty="0"/>
              <a:t>Encode: Yes/No → 1/0 | Math/Portuguese → 0/1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600" dirty="0"/>
              <a:t>Train-Test Split: </a:t>
            </a:r>
            <a:r>
              <a:rPr lang="en-IN" sz="1600" b="1" dirty="0"/>
              <a:t>80% train / 20% test</a:t>
            </a:r>
            <a:endParaRPr lang="en-IN" sz="16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600" dirty="0"/>
              <a:t>Train 3 models and compare using R² score and MAE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600" dirty="0"/>
              <a:t>Best result: </a:t>
            </a:r>
            <a:r>
              <a:rPr lang="en-IN" sz="1600" b="1" dirty="0"/>
              <a:t>Random Forest (R²=0.808, MAE=1.01)</a:t>
            </a:r>
            <a:r>
              <a:rPr lang="en-IN" sz="1600" dirty="0"/>
              <a:t> → save as </a:t>
            </a:r>
            <a:r>
              <a:rPr lang="en-IN" sz="1600" dirty="0" err="1"/>
              <a:t>student_grade_model.pkl</a:t>
            </a:r>
            <a:endParaRPr lang="en-IN" sz="16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600" dirty="0"/>
              <a:t>Normalise feature weights: G1 = G2 = 32%, correct school support sign to positive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600" dirty="0"/>
              <a:t>Build </a:t>
            </a:r>
            <a:r>
              <a:rPr lang="en-IN" sz="1600" dirty="0" err="1"/>
              <a:t>Streamlit</a:t>
            </a:r>
            <a:r>
              <a:rPr lang="en-IN" sz="1600" dirty="0"/>
              <a:t> dashboard: Predict | Analytics | XAI Explain | What-If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600" dirty="0"/>
              <a:t>Run: </a:t>
            </a:r>
            <a:r>
              <a:rPr lang="en-IN" sz="1600" dirty="0" err="1"/>
              <a:t>py</a:t>
            </a:r>
            <a:r>
              <a:rPr lang="en-IN" sz="1600" dirty="0"/>
              <a:t> -m </a:t>
            </a:r>
            <a:r>
              <a:rPr lang="en-IN" sz="1600" dirty="0" err="1"/>
              <a:t>streamlit</a:t>
            </a:r>
            <a:r>
              <a:rPr lang="en-IN" sz="1600" dirty="0"/>
              <a:t> run app.py</a:t>
            </a:r>
          </a:p>
          <a:p>
            <a:pPr marL="12700" marR="5080">
              <a:lnSpc>
                <a:spcPct val="150000"/>
              </a:lnSpc>
              <a:spcBef>
                <a:spcPts val="95"/>
              </a:spcBef>
              <a:tabLst>
                <a:tab pos="355600" algn="l"/>
              </a:tabLst>
            </a:pPr>
            <a:endParaRPr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D1FE2361-5F7D-B54A-72AC-602ACED297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7652" y="32003"/>
            <a:ext cx="2630424" cy="1019556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B309BC25-ED61-106A-D401-AD8742B97CC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962271" y="6445817"/>
            <a:ext cx="25749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</a:t>
            </a:r>
            <a:r>
              <a:rPr spc="-20" dirty="0"/>
              <a:t> YEAR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74BDB781-502C-9AC3-CE86-282975DCC82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310873" y="6445817"/>
            <a:ext cx="2317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A4D888-8899-EC8A-A23B-90B893E90D67}"/>
              </a:ext>
            </a:extLst>
          </p:cNvPr>
          <p:cNvSpPr txBox="1"/>
          <p:nvPr/>
        </p:nvSpPr>
        <p:spPr>
          <a:xfrm>
            <a:off x="3311652" y="24939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IN" sz="3200" b="1" u="sng" dirty="0">
                <a:solidFill>
                  <a:schemeClr val="tx2"/>
                </a:solidFill>
              </a:rPr>
              <a:t>Implementation Pipeline </a:t>
            </a:r>
          </a:p>
        </p:txBody>
      </p:sp>
    </p:spTree>
    <p:extLst>
      <p:ext uri="{BB962C8B-B14F-4D97-AF65-F5344CB8AC3E}">
        <p14:creationId xmlns:p14="http://schemas.microsoft.com/office/powerpoint/2010/main" val="4247952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1828800" y="224443"/>
            <a:ext cx="7460233" cy="1218409"/>
          </a:xfrm>
          <a:prstGeom prst="rect">
            <a:avLst/>
          </a:prstGeom>
        </p:spPr>
        <p:txBody>
          <a:bodyPr vert="horz" wrap="square" lIns="0" tIns="109346" rIns="0" bIns="0" rtlCol="0">
            <a:spAutoFit/>
          </a:bodyPr>
          <a:lstStyle/>
          <a:p>
            <a:pPr marL="2423160">
              <a:spcBef>
                <a:spcPts val="100"/>
              </a:spcBef>
            </a:pPr>
            <a:r>
              <a:rPr lang="en-IN" u="sng" dirty="0">
                <a:solidFill>
                  <a:schemeClr val="tx2"/>
                </a:solidFill>
              </a:rPr>
              <a:t>Project Files</a:t>
            </a:r>
            <a:br>
              <a:rPr lang="en-IN" dirty="0"/>
            </a:b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7652" y="32003"/>
            <a:ext cx="2630424" cy="101955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48148" y="1655758"/>
            <a:ext cx="11658600" cy="10714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255" indent="-133350">
              <a:lnSpc>
                <a:spcPct val="200000"/>
              </a:lnSpc>
              <a:spcBef>
                <a:spcPts val="95"/>
              </a:spcBef>
              <a:buSzPct val="96428"/>
              <a:buFontTx/>
              <a:buChar char="•"/>
              <a:tabLst>
                <a:tab pos="135255" algn="l"/>
              </a:tabLst>
            </a:pPr>
            <a:endParaRPr lang="en-IN" sz="2000" b="1" dirty="0"/>
          </a:p>
          <a:p>
            <a:pPr marL="135255" indent="-133350">
              <a:lnSpc>
                <a:spcPct val="100000"/>
              </a:lnSpc>
              <a:spcBef>
                <a:spcPts val="95"/>
              </a:spcBef>
              <a:buSzPct val="96428"/>
              <a:buChar char="•"/>
              <a:tabLst>
                <a:tab pos="135255" algn="l"/>
              </a:tabLst>
            </a:pPr>
            <a:endParaRPr sz="28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7B6C4339-4018-E089-0890-E25899CDE072}"/>
              </a:ext>
            </a:extLst>
          </p:cNvPr>
          <p:cNvSpPr/>
          <p:nvPr/>
        </p:nvSpPr>
        <p:spPr>
          <a:xfrm>
            <a:off x="513465" y="1167844"/>
            <a:ext cx="2261473" cy="2938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chemeClr val="accent3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model_training.py</a:t>
            </a:r>
            <a:endParaRPr lang="en-US" sz="1750" dirty="0">
              <a:solidFill>
                <a:schemeClr val="accent3"/>
              </a:solidFill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30C791A0-5CB3-8F2D-8729-8A95BC5A84D7}"/>
              </a:ext>
            </a:extLst>
          </p:cNvPr>
          <p:cNvSpPr/>
          <p:nvPr/>
        </p:nvSpPr>
        <p:spPr>
          <a:xfrm>
            <a:off x="513465" y="1607794"/>
            <a:ext cx="3606403" cy="422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Load data, train models, save student_grade_model.pkl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42338C9E-C401-7A1C-C68D-D7C37E7D0859}"/>
              </a:ext>
            </a:extLst>
          </p:cNvPr>
          <p:cNvSpPr/>
          <p:nvPr/>
        </p:nvSpPr>
        <p:spPr>
          <a:xfrm>
            <a:off x="828285" y="2317656"/>
            <a:ext cx="4082415" cy="1057037"/>
          </a:xfrm>
          <a:prstGeom prst="roundRect">
            <a:avLst>
              <a:gd name="adj" fmla="val 10381"/>
            </a:avLst>
          </a:prstGeom>
          <a:solidFill>
            <a:schemeClr val="bg1"/>
          </a:solidFill>
          <a:ln w="22860">
            <a:solidFill>
              <a:schemeClr val="bg1"/>
            </a:solidFill>
            <a:prstDash val="solid"/>
          </a:ln>
        </p:spPr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62C4940-D8F8-7DFC-46DB-BE851EFCB809}"/>
              </a:ext>
            </a:extLst>
          </p:cNvPr>
          <p:cNvSpPr/>
          <p:nvPr/>
        </p:nvSpPr>
        <p:spPr>
          <a:xfrm>
            <a:off x="552906" y="2550215"/>
            <a:ext cx="2261473" cy="2938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chemeClr val="accent3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app.py</a:t>
            </a:r>
            <a:endParaRPr lang="en-US" sz="1750" dirty="0">
              <a:solidFill>
                <a:schemeClr val="accent3"/>
              </a:solidFill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4A9D6362-65F4-8755-4AF0-95DBBEAC89B7}"/>
              </a:ext>
            </a:extLst>
          </p:cNvPr>
          <p:cNvSpPr/>
          <p:nvPr/>
        </p:nvSpPr>
        <p:spPr>
          <a:xfrm>
            <a:off x="553228" y="2988884"/>
            <a:ext cx="3606403" cy="211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 Streamlit dashboard (4 tabs)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9E019C1B-730E-62DB-1520-34CC9CC06B6E}"/>
              </a:ext>
            </a:extLst>
          </p:cNvPr>
          <p:cNvSpPr/>
          <p:nvPr/>
        </p:nvSpPr>
        <p:spPr>
          <a:xfrm>
            <a:off x="828285" y="3518997"/>
            <a:ext cx="4082415" cy="1057037"/>
          </a:xfrm>
          <a:prstGeom prst="roundRect">
            <a:avLst>
              <a:gd name="adj" fmla="val 10381"/>
            </a:avLst>
          </a:prstGeom>
          <a:solidFill>
            <a:schemeClr val="bg1"/>
          </a:solidFill>
          <a:ln w="22860">
            <a:solidFill>
              <a:schemeClr val="bg1"/>
            </a:solidFill>
            <a:prstDash val="solid"/>
          </a:ln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C9B8043A-D61F-E7E3-FC7B-27929240021F}"/>
              </a:ext>
            </a:extLst>
          </p:cNvPr>
          <p:cNvSpPr/>
          <p:nvPr/>
        </p:nvSpPr>
        <p:spPr>
          <a:xfrm>
            <a:off x="552906" y="3751555"/>
            <a:ext cx="2261473" cy="2938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chemeClr val="accent3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student-mat.csv</a:t>
            </a:r>
            <a:endParaRPr lang="en-US" sz="1750" dirty="0">
              <a:solidFill>
                <a:schemeClr val="accent3"/>
              </a:solidFill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3AC7DBB-645C-F791-207C-44969595C5BA}"/>
              </a:ext>
            </a:extLst>
          </p:cNvPr>
          <p:cNvSpPr/>
          <p:nvPr/>
        </p:nvSpPr>
        <p:spPr>
          <a:xfrm>
            <a:off x="548148" y="4120056"/>
            <a:ext cx="3606403" cy="211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UCI Math dataset — 395 students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A3F323E0-11A6-5E3F-834B-B2FA4A9B342C}"/>
              </a:ext>
            </a:extLst>
          </p:cNvPr>
          <p:cNvSpPr/>
          <p:nvPr/>
        </p:nvSpPr>
        <p:spPr>
          <a:xfrm>
            <a:off x="828285" y="4720337"/>
            <a:ext cx="4082415" cy="1057037"/>
          </a:xfrm>
          <a:prstGeom prst="roundRect">
            <a:avLst>
              <a:gd name="adj" fmla="val 10381"/>
            </a:avLst>
          </a:prstGeom>
          <a:solidFill>
            <a:schemeClr val="bg1"/>
          </a:solidFill>
          <a:ln w="22860">
            <a:solidFill>
              <a:schemeClr val="bg1"/>
            </a:solidFill>
            <a:prstDash val="solid"/>
          </a:ln>
        </p:spPr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DCD96F97-0CDA-D3D5-6B1C-8715CE5D834A}"/>
              </a:ext>
            </a:extLst>
          </p:cNvPr>
          <p:cNvSpPr/>
          <p:nvPr/>
        </p:nvSpPr>
        <p:spPr>
          <a:xfrm>
            <a:off x="552906" y="4952896"/>
            <a:ext cx="2261473" cy="2938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chemeClr val="accent3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student-por.csv</a:t>
            </a:r>
            <a:endParaRPr lang="en-US" sz="1750" dirty="0">
              <a:solidFill>
                <a:schemeClr val="accent3"/>
              </a:solidFill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304C95BC-C5D0-73CE-9448-F601AE979F1D}"/>
              </a:ext>
            </a:extLst>
          </p:cNvPr>
          <p:cNvSpPr/>
          <p:nvPr/>
        </p:nvSpPr>
        <p:spPr>
          <a:xfrm>
            <a:off x="548148" y="5270097"/>
            <a:ext cx="3606403" cy="211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UCI Portuguese dataset — 649 students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EA6CA723-CBD3-FC94-9980-C32344AFBE96}"/>
              </a:ext>
            </a:extLst>
          </p:cNvPr>
          <p:cNvSpPr/>
          <p:nvPr/>
        </p:nvSpPr>
        <p:spPr>
          <a:xfrm>
            <a:off x="6722760" y="1148108"/>
            <a:ext cx="2261473" cy="293846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Dashboard Tabs</a:t>
            </a:r>
            <a:endParaRPr lang="en-US" sz="1750" dirty="0">
              <a:solidFill>
                <a:schemeClr val="tx1"/>
              </a:solidFill>
            </a:endParaRPr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9265E48D-DB0A-2C08-5B9A-AB45AF1350D1}"/>
              </a:ext>
            </a:extLst>
          </p:cNvPr>
          <p:cNvSpPr/>
          <p:nvPr/>
        </p:nvSpPr>
        <p:spPr>
          <a:xfrm>
            <a:off x="4078033" y="1680559"/>
            <a:ext cx="2557105" cy="2521982"/>
          </a:xfrm>
          <a:prstGeom prst="roundRect">
            <a:avLst>
              <a:gd name="adj" fmla="val 3013"/>
            </a:avLst>
          </a:prstGeom>
          <a:solidFill>
            <a:schemeClr val="bg1"/>
          </a:solidFill>
          <a:ln w="15240">
            <a:solidFill>
              <a:srgbClr val="002A80"/>
            </a:solidFill>
            <a:prstDash val="solid"/>
          </a:ln>
        </p:spPr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0AD18901-4BD2-5C18-8937-165278E569EC}"/>
              </a:ext>
            </a:extLst>
          </p:cNvPr>
          <p:cNvSpPr/>
          <p:nvPr/>
        </p:nvSpPr>
        <p:spPr>
          <a:xfrm>
            <a:off x="4274129" y="1876655"/>
            <a:ext cx="2164913" cy="293846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Tab 1 — Predict</a:t>
            </a:r>
            <a:endParaRPr lang="en-US" sz="1750" dirty="0">
              <a:solidFill>
                <a:schemeClr val="tx1"/>
              </a:solidFill>
            </a:endParaRPr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01B2D4FD-53B6-FB3C-46A6-60DB5621AA89}"/>
              </a:ext>
            </a:extLst>
          </p:cNvPr>
          <p:cNvSpPr/>
          <p:nvPr/>
        </p:nvSpPr>
        <p:spPr>
          <a:xfrm>
            <a:off x="4274129" y="2314805"/>
            <a:ext cx="2164913" cy="16916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 input sliders → predicted grade out of 20, percentage, Pass/Fail badge. G1→G2→G3 trajectory chart. Impact bars showing how each factor change improves grade.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ADEDDA3B-FD9A-EB57-A238-503A12E23BCE}"/>
              </a:ext>
            </a:extLst>
          </p:cNvPr>
          <p:cNvSpPr/>
          <p:nvPr/>
        </p:nvSpPr>
        <p:spPr>
          <a:xfrm>
            <a:off x="6779442" y="1680559"/>
            <a:ext cx="2557105" cy="2521982"/>
          </a:xfrm>
          <a:prstGeom prst="roundRect">
            <a:avLst>
              <a:gd name="adj" fmla="val 3013"/>
            </a:avLst>
          </a:prstGeom>
          <a:solidFill>
            <a:schemeClr val="bg1"/>
          </a:solidFill>
          <a:ln w="15240">
            <a:solidFill>
              <a:srgbClr val="002A80"/>
            </a:solidFill>
            <a:prstDash val="solid"/>
          </a:ln>
        </p:spPr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9BAC8B1F-4D14-24CD-CB1C-954CD9C07D53}"/>
              </a:ext>
            </a:extLst>
          </p:cNvPr>
          <p:cNvSpPr/>
          <p:nvPr/>
        </p:nvSpPr>
        <p:spPr>
          <a:xfrm>
            <a:off x="6975538" y="1876655"/>
            <a:ext cx="2164913" cy="293846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Tab 2 — Analytics</a:t>
            </a:r>
            <a:endParaRPr lang="en-US" sz="1750" dirty="0">
              <a:solidFill>
                <a:schemeClr val="tx1"/>
              </a:solidFill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FAABED13-AC8A-66C5-CE47-9987BFC57379}"/>
              </a:ext>
            </a:extLst>
          </p:cNvPr>
          <p:cNvSpPr/>
          <p:nvPr/>
        </p:nvSpPr>
        <p:spPr>
          <a:xfrm>
            <a:off x="6975538" y="2314805"/>
            <a:ext cx="2164913" cy="1057275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Grade distribution, Pass vs Fail donut chart, Absences vs Grade, Study Time vs Grade, Math vs Portuguese comparison.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D9B173CF-5951-C137-28D9-DF32D3BD66A9}"/>
              </a:ext>
            </a:extLst>
          </p:cNvPr>
          <p:cNvSpPr/>
          <p:nvPr/>
        </p:nvSpPr>
        <p:spPr>
          <a:xfrm>
            <a:off x="9480851" y="1680559"/>
            <a:ext cx="2557224" cy="2521982"/>
          </a:xfrm>
          <a:prstGeom prst="roundRect">
            <a:avLst>
              <a:gd name="adj" fmla="val 3013"/>
            </a:avLst>
          </a:prstGeom>
          <a:solidFill>
            <a:schemeClr val="bg1"/>
          </a:solidFill>
          <a:ln w="15240">
            <a:solidFill>
              <a:srgbClr val="002A80"/>
            </a:solidFill>
            <a:prstDash val="solid"/>
          </a:ln>
        </p:spPr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61EFB1EA-C953-72E2-1BC7-BAEF63C320FD}"/>
              </a:ext>
            </a:extLst>
          </p:cNvPr>
          <p:cNvSpPr/>
          <p:nvPr/>
        </p:nvSpPr>
        <p:spPr>
          <a:xfrm>
            <a:off x="9676947" y="1876655"/>
            <a:ext cx="2165033" cy="293846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Tab 3 — XAI Explain</a:t>
            </a:r>
            <a:endParaRPr lang="en-US" sz="1750" dirty="0">
              <a:solidFill>
                <a:schemeClr val="tx1"/>
              </a:solidFill>
            </a:endParaRPr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576DC7A1-B855-6C4E-8A82-8E9AC69A98BE}"/>
              </a:ext>
            </a:extLst>
          </p:cNvPr>
          <p:cNvSpPr/>
          <p:nvPr/>
        </p:nvSpPr>
        <p:spPr>
          <a:xfrm>
            <a:off x="9676947" y="2314805"/>
            <a:ext cx="2165033" cy="1057275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Normalised feature importance bars, 6 per-student risk indicators, SHAP-style contribution chart per prediction.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74139A8C-3486-2DB6-B459-7856F5042C3F}"/>
              </a:ext>
            </a:extLst>
          </p:cNvPr>
          <p:cNvSpPr/>
          <p:nvPr/>
        </p:nvSpPr>
        <p:spPr>
          <a:xfrm>
            <a:off x="4070665" y="4489493"/>
            <a:ext cx="7960043" cy="1253252"/>
          </a:xfrm>
          <a:prstGeom prst="roundRect">
            <a:avLst>
              <a:gd name="adj" fmla="val 6063"/>
            </a:avLst>
          </a:prstGeom>
          <a:solidFill>
            <a:schemeClr val="bg1"/>
          </a:solidFill>
          <a:ln w="15240">
            <a:solidFill>
              <a:srgbClr val="002A80"/>
            </a:solidFill>
            <a:prstDash val="solid"/>
          </a:ln>
        </p:spPr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6492E476-A5AC-28B3-AE92-C4EB93E4A92B}"/>
              </a:ext>
            </a:extLst>
          </p:cNvPr>
          <p:cNvSpPr/>
          <p:nvPr/>
        </p:nvSpPr>
        <p:spPr>
          <a:xfrm>
            <a:off x="4281280" y="4586147"/>
            <a:ext cx="7567851" cy="42291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algn="l">
              <a:lnSpc>
                <a:spcPts val="1650"/>
              </a:lnSpc>
            </a:pPr>
            <a:r>
              <a:rPr lang="en-US" sz="140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Tab 4 — What-If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 algn="l">
              <a:lnSpc>
                <a:spcPts val="1650"/>
              </a:lnSpc>
              <a:buNone/>
            </a:pPr>
            <a:endParaRPr lang="en-US" sz="1400" dirty="0">
              <a:solidFill>
                <a:schemeClr val="tx1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Vary any one factor across full range, see grade change plotted live. 4 best-case scenario cards compared side by side.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D63F13F-7A73-AC13-FD4C-B103733BA41E}"/>
              </a:ext>
            </a:extLst>
          </p:cNvPr>
          <p:cNvCxnSpPr>
            <a:cxnSpLocks/>
          </p:cNvCxnSpPr>
          <p:nvPr/>
        </p:nvCxnSpPr>
        <p:spPr>
          <a:xfrm>
            <a:off x="3657600" y="0"/>
            <a:ext cx="0" cy="63246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8">
            <a:extLst>
              <a:ext uri="{FF2B5EF4-FFF2-40B4-BE49-F238E27FC236}">
                <a16:creationId xmlns:a16="http://schemas.microsoft.com/office/drawing/2014/main" id="{7E45CB51-A107-20BD-35AB-9DB68D32ED5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025294" y="5966656"/>
            <a:ext cx="2317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F29881A4-302D-B65E-27C2-B13C2582702F}"/>
              </a:ext>
            </a:extLst>
          </p:cNvPr>
          <p:cNvSpPr txBox="1">
            <a:spLocks/>
          </p:cNvSpPr>
          <p:nvPr/>
        </p:nvSpPr>
        <p:spPr>
          <a:xfrm>
            <a:off x="11310873" y="6445817"/>
            <a:ext cx="2317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425"/>
                </a:lnSpc>
              </a:pPr>
              <a:t>6</a:t>
            </a:fld>
            <a:endParaRPr lang="en-IN" spc="-25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9327BE5-67A0-1502-76B4-5AA61DC06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165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9947" y="76200"/>
            <a:ext cx="2630424" cy="101955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025294" y="5966656"/>
            <a:ext cx="2317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D5EC9772-CE2C-308E-AB5D-216FA578DF86}"/>
              </a:ext>
            </a:extLst>
          </p:cNvPr>
          <p:cNvSpPr/>
          <p:nvPr/>
        </p:nvSpPr>
        <p:spPr>
          <a:xfrm>
            <a:off x="381000" y="57041"/>
            <a:ext cx="4924146" cy="55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50"/>
              </a:lnSpc>
              <a:buNone/>
            </a:pPr>
            <a:r>
              <a:rPr lang="en-US" sz="3400" b="1" u="sng" dirty="0">
                <a:solidFill>
                  <a:schemeClr val="tx2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Feasibility </a:t>
            </a:r>
            <a:endParaRPr lang="en-US" sz="3400" u="sng" dirty="0">
              <a:solidFill>
                <a:schemeClr val="tx2"/>
              </a:solidFill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AC718964-CFA4-E3DC-AB3B-31DCE9C008C2}"/>
              </a:ext>
            </a:extLst>
          </p:cNvPr>
          <p:cNvSpPr/>
          <p:nvPr/>
        </p:nvSpPr>
        <p:spPr>
          <a:xfrm>
            <a:off x="381000" y="1012117"/>
            <a:ext cx="1996619" cy="83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50" b="1" u="sng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It's Feasible</a:t>
            </a:r>
            <a:endParaRPr lang="en-US" sz="2150" u="sng" dirty="0">
              <a:solidFill>
                <a:schemeClr val="tx1"/>
              </a:solidFill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831CF02B-87AD-4A1B-662D-26F187A3359F}"/>
              </a:ext>
            </a:extLst>
          </p:cNvPr>
          <p:cNvSpPr/>
          <p:nvPr/>
        </p:nvSpPr>
        <p:spPr>
          <a:xfrm>
            <a:off x="290741" y="2040721"/>
            <a:ext cx="3442316" cy="43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100% free and open-source: Python, Streamlit, Scikit-learn, Plotly</a:t>
            </a:r>
            <a:endParaRPr lang="en-US" sz="17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Runs on any standard laptop — no GPU or cloud server required</a:t>
            </a:r>
            <a:endParaRPr lang="en-US" sz="17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Fully implemented, tested, and </a:t>
            </a:r>
            <a:r>
              <a:rPr lang="en-US" sz="17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Times New Roman" panose="02020603050405020304" pitchFamily="18" charset="0"/>
              </a:rPr>
              <a:t>running</a:t>
            </a:r>
            <a:r>
              <a:rPr lang="en-US" sz="17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end-to-end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83FBF326-CEFC-FC3B-48AA-FEDA0D4540BF}"/>
              </a:ext>
            </a:extLst>
          </p:cNvPr>
          <p:cNvSpPr/>
          <p:nvPr/>
        </p:nvSpPr>
        <p:spPr>
          <a:xfrm>
            <a:off x="5426842" y="1095755"/>
            <a:ext cx="2486345" cy="83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u="sng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Challenges and Solutions</a:t>
            </a:r>
            <a:endParaRPr lang="en-US" sz="2150" u="sng" dirty="0">
              <a:solidFill>
                <a:schemeClr val="tx1"/>
              </a:solidFill>
            </a:endParaRP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AEA24FA1-7231-BC68-99B4-74A9ABE71D92}"/>
              </a:ext>
            </a:extLst>
          </p:cNvPr>
          <p:cNvSpPr/>
          <p:nvPr/>
        </p:nvSpPr>
        <p:spPr>
          <a:xfrm>
            <a:off x="5426842" y="1700593"/>
            <a:ext cx="5492329" cy="1114665"/>
          </a:xfrm>
          <a:prstGeom prst="roundRect">
            <a:avLst>
              <a:gd name="adj" fmla="val 193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97E2C344-28CB-A3E2-91DA-B52B0178BDF8}"/>
              </a:ext>
            </a:extLst>
          </p:cNvPr>
          <p:cNvSpPr/>
          <p:nvPr/>
        </p:nvSpPr>
        <p:spPr>
          <a:xfrm>
            <a:off x="5434462" y="1708213"/>
            <a:ext cx="5481359" cy="1300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6A7FFDD4-7911-4278-6670-4D70E59C6E24}"/>
              </a:ext>
            </a:extLst>
          </p:cNvPr>
          <p:cNvSpPr/>
          <p:nvPr/>
        </p:nvSpPr>
        <p:spPr>
          <a:xfrm>
            <a:off x="5656396" y="1845968"/>
            <a:ext cx="2418552" cy="6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Challenge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1AC3265D-73A7-E1D5-6DE7-4F5980DB5DF3}"/>
              </a:ext>
            </a:extLst>
          </p:cNvPr>
          <p:cNvSpPr/>
          <p:nvPr/>
        </p:nvSpPr>
        <p:spPr>
          <a:xfrm>
            <a:off x="9467467" y="1845968"/>
            <a:ext cx="2418552" cy="6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Solution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47726DA9-E0C0-41B6-3EE6-DFB3E261F8EE}"/>
              </a:ext>
            </a:extLst>
          </p:cNvPr>
          <p:cNvSpPr/>
          <p:nvPr/>
        </p:nvSpPr>
        <p:spPr>
          <a:xfrm>
            <a:off x="5656396" y="2406753"/>
            <a:ext cx="2418552" cy="13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G2 dominated at 83% importance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E4809891-F218-A5E9-4187-99F785BE7FBB}"/>
              </a:ext>
            </a:extLst>
          </p:cNvPr>
          <p:cNvSpPr/>
          <p:nvPr/>
        </p:nvSpPr>
        <p:spPr>
          <a:xfrm>
            <a:off x="9467467" y="2406753"/>
            <a:ext cx="2418552" cy="13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Normalised weights → G1 = G2 = 32%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A973EEE6-8A6F-F388-5BB5-C0F355B5454C}"/>
              </a:ext>
            </a:extLst>
          </p:cNvPr>
          <p:cNvSpPr/>
          <p:nvPr/>
        </p:nvSpPr>
        <p:spPr>
          <a:xfrm>
            <a:off x="5434462" y="3115055"/>
            <a:ext cx="5481359" cy="1962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6E256C27-7466-F450-DDEA-78E083488EDD}"/>
              </a:ext>
            </a:extLst>
          </p:cNvPr>
          <p:cNvSpPr/>
          <p:nvPr/>
        </p:nvSpPr>
        <p:spPr>
          <a:xfrm>
            <a:off x="5656396" y="3252811"/>
            <a:ext cx="2418552" cy="13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School support showed false negative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E589065F-1381-BA9D-3315-4A79B653280F}"/>
              </a:ext>
            </a:extLst>
          </p:cNvPr>
          <p:cNvSpPr/>
          <p:nvPr/>
        </p:nvSpPr>
        <p:spPr>
          <a:xfrm>
            <a:off x="9467467" y="3252811"/>
            <a:ext cx="2418552" cy="13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Confounding bias corrected to +0.22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BCE594DC-B610-F126-992D-33A5C7114EF1}"/>
              </a:ext>
            </a:extLst>
          </p:cNvPr>
          <p:cNvSpPr/>
          <p:nvPr/>
        </p:nvSpPr>
        <p:spPr>
          <a:xfrm>
            <a:off x="5656396" y="4098869"/>
            <a:ext cx="2418552" cy="6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Dataset from Portugal 2005–06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0CED9B58-25D8-6918-B541-A056CB666FF8}"/>
              </a:ext>
            </a:extLst>
          </p:cNvPr>
          <p:cNvSpPr/>
          <p:nvPr/>
        </p:nvSpPr>
        <p:spPr>
          <a:xfrm>
            <a:off x="9467467" y="4098869"/>
            <a:ext cx="2418552" cy="13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Feature set universally applicable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6EB2C604-9A13-EF15-FDB1-BCD79C36B0B1}"/>
              </a:ext>
            </a:extLst>
          </p:cNvPr>
          <p:cNvSpPr/>
          <p:nvPr/>
        </p:nvSpPr>
        <p:spPr>
          <a:xfrm>
            <a:off x="5434462" y="4807172"/>
            <a:ext cx="5481359" cy="1962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E5D74D08-BACB-007D-BDC8-62C886D99E11}"/>
              </a:ext>
            </a:extLst>
          </p:cNvPr>
          <p:cNvSpPr/>
          <p:nvPr/>
        </p:nvSpPr>
        <p:spPr>
          <a:xfrm>
            <a:off x="5656396" y="4944927"/>
            <a:ext cx="2418552" cy="13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53 students with G3=0 (dropout ambiguity)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99173F73-5A73-746E-0FD3-027DB25C0A39}"/>
              </a:ext>
            </a:extLst>
          </p:cNvPr>
          <p:cNvSpPr/>
          <p:nvPr/>
        </p:nvSpPr>
        <p:spPr>
          <a:xfrm>
            <a:off x="9467467" y="4944927"/>
            <a:ext cx="2418552" cy="13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Excluded; future version flags as Dropout Risk</a:t>
            </a:r>
            <a:endParaRPr lang="en-US" sz="1700" dirty="0">
              <a:solidFill>
                <a:schemeClr val="tx1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DED6F72-EE27-C5AD-821A-B1B6E5C8FDD6}"/>
              </a:ext>
            </a:extLst>
          </p:cNvPr>
          <p:cNvCxnSpPr>
            <a:cxnSpLocks/>
          </p:cNvCxnSpPr>
          <p:nvPr/>
        </p:nvCxnSpPr>
        <p:spPr>
          <a:xfrm>
            <a:off x="5068371" y="990600"/>
            <a:ext cx="0" cy="5074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bject 8">
            <a:extLst>
              <a:ext uri="{FF2B5EF4-FFF2-40B4-BE49-F238E27FC236}">
                <a16:creationId xmlns:a16="http://schemas.microsoft.com/office/drawing/2014/main" id="{36E6474E-582E-E2FF-9776-5046D01D20D4}"/>
              </a:ext>
            </a:extLst>
          </p:cNvPr>
          <p:cNvSpPr txBox="1">
            <a:spLocks/>
          </p:cNvSpPr>
          <p:nvPr/>
        </p:nvSpPr>
        <p:spPr>
          <a:xfrm>
            <a:off x="11310873" y="6445817"/>
            <a:ext cx="2317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425"/>
                </a:lnSpc>
              </a:pPr>
              <a:t>7</a:t>
            </a:fld>
            <a:endParaRPr lang="en-IN"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524749" y="5522780"/>
            <a:ext cx="1605662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21EEAA6B-29DA-C0B0-637B-9ACF648CF8FF}"/>
              </a:ext>
            </a:extLst>
          </p:cNvPr>
          <p:cNvSpPr/>
          <p:nvPr/>
        </p:nvSpPr>
        <p:spPr>
          <a:xfrm>
            <a:off x="701913" y="171682"/>
            <a:ext cx="5159454" cy="670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00" b="1" u="sng" dirty="0">
                <a:solidFill>
                  <a:schemeClr val="tx2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Impact and Benefits</a:t>
            </a:r>
            <a:endParaRPr lang="en-US" sz="3400" u="sng" dirty="0">
              <a:solidFill>
                <a:schemeClr val="tx2"/>
              </a:solidFill>
            </a:endParaRP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47F074CC-3D1A-4110-E3B6-F4B2D1082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9987" y="1116409"/>
            <a:ext cx="515898" cy="515898"/>
          </a:xfrm>
          <a:prstGeom prst="rect">
            <a:avLst/>
          </a:prstGeom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F1FE2FA9-F207-92D7-5D8B-2895A1186CC2}"/>
              </a:ext>
            </a:extLst>
          </p:cNvPr>
          <p:cNvSpPr/>
          <p:nvPr/>
        </p:nvSpPr>
        <p:spPr>
          <a:xfrm>
            <a:off x="1153834" y="1066934"/>
            <a:ext cx="2579727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Teachers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0A76AB0A-14EF-D41D-CE3A-0E240B486624}"/>
              </a:ext>
            </a:extLst>
          </p:cNvPr>
          <p:cNvSpPr/>
          <p:nvPr/>
        </p:nvSpPr>
        <p:spPr>
          <a:xfrm>
            <a:off x="1062157" y="1390785"/>
            <a:ext cx="5159454" cy="76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Identify at-risk students early and take targeted action before it's too late. Data-driven insights replace guesswork in the classroom.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5FC76BCD-12D8-EA76-7B12-88E50BABF6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0400" y="1066800"/>
            <a:ext cx="515898" cy="515898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3616A217-7D19-22CB-7F73-C4BB0AB052E3}"/>
              </a:ext>
            </a:extLst>
          </p:cNvPr>
          <p:cNvSpPr/>
          <p:nvPr/>
        </p:nvSpPr>
        <p:spPr>
          <a:xfrm>
            <a:off x="7813509" y="1176634"/>
            <a:ext cx="2579727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Students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7A450129-319B-DCDE-9F75-C19321769347}"/>
              </a:ext>
            </a:extLst>
          </p:cNvPr>
          <p:cNvSpPr/>
          <p:nvPr/>
        </p:nvSpPr>
        <p:spPr>
          <a:xfrm>
            <a:off x="7772401" y="1660146"/>
            <a:ext cx="4419600" cy="76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Understand which habits affect their own grades. The What-If simulator empowers students to plan their own improvement journey.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1FB22079-D947-8434-12C1-3B4EF735A7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1586" y="2673050"/>
            <a:ext cx="515898" cy="515898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44D1F672-42FC-DBB9-D58A-DBDF7ADDFDEC}"/>
              </a:ext>
            </a:extLst>
          </p:cNvPr>
          <p:cNvSpPr/>
          <p:nvPr/>
        </p:nvSpPr>
        <p:spPr>
          <a:xfrm>
            <a:off x="1062157" y="2673050"/>
            <a:ext cx="1870376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Institutions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00297825-210E-5E7B-E9EF-02D020A19177}"/>
              </a:ext>
            </a:extLst>
          </p:cNvPr>
          <p:cNvSpPr/>
          <p:nvPr/>
        </p:nvSpPr>
        <p:spPr>
          <a:xfrm>
            <a:off x="1062157" y="3121082"/>
            <a:ext cx="4150789" cy="76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Scalable from 1,044 students today to 100,000+ tomorrow at zero cost.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8A595E01-09CA-EBD4-BA9A-3BD945EC16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21830" y="2673050"/>
            <a:ext cx="515898" cy="515898"/>
          </a:xfrm>
          <a:prstGeom prst="rect">
            <a:avLst/>
          </a:prstGeom>
        </p:spPr>
      </p:pic>
      <p:sp>
        <p:nvSpPr>
          <p:cNvPr id="21" name="Text 7">
            <a:extLst>
              <a:ext uri="{FF2B5EF4-FFF2-40B4-BE49-F238E27FC236}">
                <a16:creationId xmlns:a16="http://schemas.microsoft.com/office/drawing/2014/main" id="{F41A3EE6-B3C8-52DB-AD53-1C2BA44EFE8F}"/>
              </a:ext>
            </a:extLst>
          </p:cNvPr>
          <p:cNvSpPr/>
          <p:nvPr/>
        </p:nvSpPr>
        <p:spPr>
          <a:xfrm>
            <a:off x="7772401" y="2673050"/>
            <a:ext cx="1870376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Parents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FB020468-DD18-5861-901A-376ECAF3DA9C}"/>
              </a:ext>
            </a:extLst>
          </p:cNvPr>
          <p:cNvSpPr/>
          <p:nvPr/>
        </p:nvSpPr>
        <p:spPr>
          <a:xfrm>
            <a:off x="7772400" y="3023273"/>
            <a:ext cx="4150876" cy="76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Transparent, understandable feedback on academic risk. 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7AFA54A8-8486-955E-A083-4962D738AB5B}"/>
              </a:ext>
            </a:extLst>
          </p:cNvPr>
          <p:cNvSpPr/>
          <p:nvPr/>
        </p:nvSpPr>
        <p:spPr>
          <a:xfrm>
            <a:off x="569535" y="4088287"/>
            <a:ext cx="1608656" cy="309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🌍 Social Benefits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AF72B202-B0BA-C4A1-6FB7-0B17C5AAB0F9}"/>
              </a:ext>
            </a:extLst>
          </p:cNvPr>
          <p:cNvSpPr/>
          <p:nvPr/>
        </p:nvSpPr>
        <p:spPr>
          <a:xfrm>
            <a:off x="770225" y="4578736"/>
            <a:ext cx="3982489" cy="1678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Reduces failure rates through early personalised intervention</a:t>
            </a:r>
            <a:endParaRPr lang="en-US" sz="1600" dirty="0">
              <a:solidFill>
                <a:schemeClr val="tx1"/>
              </a:solidFill>
            </a:endParaRPr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Promotes fairness: explains predictions instead of just labelling students</a:t>
            </a:r>
            <a:endParaRPr lang="en-US" sz="1600" dirty="0">
              <a:solidFill>
                <a:schemeClr val="tx1"/>
              </a:solidFill>
            </a:endParaRPr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Makes AI trustworthy in education through full transparency (XAI)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2755B397-0353-DC2D-C0B2-E3BB16E7709E}"/>
              </a:ext>
            </a:extLst>
          </p:cNvPr>
          <p:cNvSpPr/>
          <p:nvPr/>
        </p:nvSpPr>
        <p:spPr>
          <a:xfrm>
            <a:off x="7010400" y="4113383"/>
            <a:ext cx="1873041" cy="309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📚 Educational Benefits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4D8E8936-094C-4A96-EA67-CE7A36259CA3}"/>
              </a:ext>
            </a:extLst>
          </p:cNvPr>
          <p:cNvSpPr/>
          <p:nvPr/>
        </p:nvSpPr>
        <p:spPr>
          <a:xfrm>
            <a:off x="7418968" y="4554992"/>
            <a:ext cx="4379428" cy="1934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Replaces guesswork with explainable data-driven insights</a:t>
            </a:r>
            <a:endParaRPr lang="en-US" sz="1600" dirty="0">
              <a:solidFill>
                <a:schemeClr val="tx1"/>
              </a:solidFill>
            </a:endParaRPr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What-If simulator empowers students to plan improvement</a:t>
            </a:r>
            <a:endParaRPr lang="en-US" sz="1600" dirty="0">
              <a:solidFill>
                <a:schemeClr val="tx1"/>
              </a:solidFill>
            </a:endParaRPr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Adoptable by any school or college with basic student records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9" name="object 7">
            <a:extLst>
              <a:ext uri="{FF2B5EF4-FFF2-40B4-BE49-F238E27FC236}">
                <a16:creationId xmlns:a16="http://schemas.microsoft.com/office/drawing/2014/main" id="{661E084F-31B7-6CB1-628F-005A99307388}"/>
              </a:ext>
            </a:extLst>
          </p:cNvPr>
          <p:cNvSpPr txBox="1">
            <a:spLocks/>
          </p:cNvSpPr>
          <p:nvPr/>
        </p:nvSpPr>
        <p:spPr>
          <a:xfrm>
            <a:off x="4962271" y="6445817"/>
            <a:ext cx="257492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/>
              <a:t>@NIET</a:t>
            </a:r>
            <a:r>
              <a:rPr lang="en-US" spc="280"/>
              <a:t> </a:t>
            </a:r>
            <a:r>
              <a:rPr lang="en-US"/>
              <a:t>MINI</a:t>
            </a:r>
            <a:r>
              <a:rPr lang="en-US" spc="-10"/>
              <a:t> </a:t>
            </a:r>
            <a:r>
              <a:rPr lang="en-US"/>
              <a:t>PROJECT</a:t>
            </a:r>
            <a:r>
              <a:rPr lang="en-US" spc="290"/>
              <a:t> </a:t>
            </a:r>
            <a:r>
              <a:rPr lang="en-US" spc="-10"/>
              <a:t>-</a:t>
            </a:r>
            <a:r>
              <a:rPr lang="en-US"/>
              <a:t>II /III</a:t>
            </a:r>
            <a:r>
              <a:rPr lang="en-US" spc="-20"/>
              <a:t> YEAR</a:t>
            </a:r>
            <a:endParaRPr lang="en-US" spc="-20" dirty="0"/>
          </a:p>
        </p:txBody>
      </p:sp>
      <p:sp>
        <p:nvSpPr>
          <p:cNvPr id="30" name="object 8">
            <a:extLst>
              <a:ext uri="{FF2B5EF4-FFF2-40B4-BE49-F238E27FC236}">
                <a16:creationId xmlns:a16="http://schemas.microsoft.com/office/drawing/2014/main" id="{2DB451A6-C8D1-28D0-E965-6EDA894B887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310873" y="6445817"/>
            <a:ext cx="2317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75" name="Text 0">
            <a:extLst>
              <a:ext uri="{FF2B5EF4-FFF2-40B4-BE49-F238E27FC236}">
                <a16:creationId xmlns:a16="http://schemas.microsoft.com/office/drawing/2014/main" id="{6B5D3C52-E5BC-BA39-F088-74C12C10A64E}"/>
              </a:ext>
            </a:extLst>
          </p:cNvPr>
          <p:cNvSpPr/>
          <p:nvPr/>
        </p:nvSpPr>
        <p:spPr>
          <a:xfrm>
            <a:off x="381000" y="78751"/>
            <a:ext cx="3501628" cy="455176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3400" b="1" u="sng" dirty="0">
                <a:solidFill>
                  <a:schemeClr val="tx2"/>
                </a:solidFill>
                <a:latin typeface="+mn-lt"/>
                <a:ea typeface="Geist Bold" pitchFamily="34" charset="-122"/>
                <a:cs typeface="Geist Bold" pitchFamily="34" charset="-120"/>
              </a:rPr>
              <a:t>Limitations</a:t>
            </a:r>
            <a:endParaRPr lang="en-US" sz="3400" u="sng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7" name="Shape 2">
            <a:extLst>
              <a:ext uri="{FF2B5EF4-FFF2-40B4-BE49-F238E27FC236}">
                <a16:creationId xmlns:a16="http://schemas.microsoft.com/office/drawing/2014/main" id="{83EEB031-4A04-4F09-F6C0-D4A779614E6C}"/>
              </a:ext>
            </a:extLst>
          </p:cNvPr>
          <p:cNvSpPr/>
          <p:nvPr/>
        </p:nvSpPr>
        <p:spPr>
          <a:xfrm>
            <a:off x="304800" y="686949"/>
            <a:ext cx="9664422" cy="840343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5240">
            <a:solidFill>
              <a:srgbClr val="002A80"/>
            </a:solidFill>
            <a:prstDash val="solid"/>
          </a:ln>
        </p:spPr>
      </p:sp>
      <p:sp>
        <p:nvSpPr>
          <p:cNvPr id="78" name="Shape 3">
            <a:extLst>
              <a:ext uri="{FF2B5EF4-FFF2-40B4-BE49-F238E27FC236}">
                <a16:creationId xmlns:a16="http://schemas.microsoft.com/office/drawing/2014/main" id="{29EEA347-4C0E-4DFD-4825-2F6889BAF7F2}"/>
              </a:ext>
            </a:extLst>
          </p:cNvPr>
          <p:cNvSpPr/>
          <p:nvPr/>
        </p:nvSpPr>
        <p:spPr>
          <a:xfrm>
            <a:off x="320040" y="702189"/>
            <a:ext cx="560189" cy="809863"/>
          </a:xfrm>
          <a:prstGeom prst="roundRect">
            <a:avLst>
              <a:gd name="adj" fmla="val 7237"/>
            </a:avLst>
          </a:prstGeom>
          <a:solidFill>
            <a:schemeClr val="bg1"/>
          </a:solidFill>
          <a:ln/>
        </p:spPr>
      </p:sp>
      <p:sp>
        <p:nvSpPr>
          <p:cNvPr id="79" name="Text 4">
            <a:extLst>
              <a:ext uri="{FF2B5EF4-FFF2-40B4-BE49-F238E27FC236}">
                <a16:creationId xmlns:a16="http://schemas.microsoft.com/office/drawing/2014/main" id="{21F2710D-7E78-11EF-7B02-3D247796CFFD}"/>
              </a:ext>
            </a:extLst>
          </p:cNvPr>
          <p:cNvSpPr/>
          <p:nvPr/>
        </p:nvSpPr>
        <p:spPr>
          <a:xfrm>
            <a:off x="487442" y="970556"/>
            <a:ext cx="210026" cy="273010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650" dirty="0">
              <a:solidFill>
                <a:schemeClr val="tx1"/>
              </a:solidFill>
            </a:endParaRPr>
          </a:p>
        </p:txBody>
      </p:sp>
      <p:sp>
        <p:nvSpPr>
          <p:cNvPr id="80" name="Text 5">
            <a:extLst>
              <a:ext uri="{FF2B5EF4-FFF2-40B4-BE49-F238E27FC236}">
                <a16:creationId xmlns:a16="http://schemas.microsoft.com/office/drawing/2014/main" id="{992791DA-AFAA-A455-E27D-43E7810F6A0A}"/>
              </a:ext>
            </a:extLst>
          </p:cNvPr>
          <p:cNvSpPr/>
          <p:nvPr/>
        </p:nvSpPr>
        <p:spPr>
          <a:xfrm>
            <a:off x="966669" y="842207"/>
            <a:ext cx="2397323" cy="22764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Dataset Age and Geography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1" name="Text 6">
            <a:extLst>
              <a:ext uri="{FF2B5EF4-FFF2-40B4-BE49-F238E27FC236}">
                <a16:creationId xmlns:a16="http://schemas.microsoft.com/office/drawing/2014/main" id="{83AD300F-1996-9D0B-E03E-930860A13B96}"/>
              </a:ext>
            </a:extLst>
          </p:cNvPr>
          <p:cNvSpPr/>
          <p:nvPr/>
        </p:nvSpPr>
        <p:spPr>
          <a:xfrm>
            <a:off x="966669" y="1121646"/>
            <a:ext cx="8847296" cy="147161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from Portugal (2005–06), approximately 20 years old. May not reflect current or Indian student</a:t>
            </a:r>
          </a:p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behaviour patterns.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2" name="Shape 7">
            <a:extLst>
              <a:ext uri="{FF2B5EF4-FFF2-40B4-BE49-F238E27FC236}">
                <a16:creationId xmlns:a16="http://schemas.microsoft.com/office/drawing/2014/main" id="{B70BE1EC-54C1-41DE-BE0C-7D4A41A69384}"/>
              </a:ext>
            </a:extLst>
          </p:cNvPr>
          <p:cNvSpPr/>
          <p:nvPr/>
        </p:nvSpPr>
        <p:spPr>
          <a:xfrm>
            <a:off x="304800" y="1613732"/>
            <a:ext cx="9664422" cy="840343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5240">
            <a:solidFill>
              <a:srgbClr val="002A80"/>
            </a:solidFill>
            <a:prstDash val="solid"/>
          </a:ln>
        </p:spPr>
      </p:sp>
      <p:sp>
        <p:nvSpPr>
          <p:cNvPr id="83" name="Shape 8">
            <a:extLst>
              <a:ext uri="{FF2B5EF4-FFF2-40B4-BE49-F238E27FC236}">
                <a16:creationId xmlns:a16="http://schemas.microsoft.com/office/drawing/2014/main" id="{B0DDA670-2C34-1613-2AD6-B9524DA59F71}"/>
              </a:ext>
            </a:extLst>
          </p:cNvPr>
          <p:cNvSpPr/>
          <p:nvPr/>
        </p:nvSpPr>
        <p:spPr>
          <a:xfrm>
            <a:off x="320040" y="1628972"/>
            <a:ext cx="560189" cy="809863"/>
          </a:xfrm>
          <a:prstGeom prst="roundRect">
            <a:avLst>
              <a:gd name="adj" fmla="val 7237"/>
            </a:avLst>
          </a:prstGeom>
          <a:solidFill>
            <a:schemeClr val="bg1"/>
          </a:solidFill>
          <a:ln/>
        </p:spPr>
      </p:sp>
      <p:sp>
        <p:nvSpPr>
          <p:cNvPr id="84" name="Text 9">
            <a:extLst>
              <a:ext uri="{FF2B5EF4-FFF2-40B4-BE49-F238E27FC236}">
                <a16:creationId xmlns:a16="http://schemas.microsoft.com/office/drawing/2014/main" id="{5FC2B0CF-E30A-EF0F-CF43-E32E0D30D48E}"/>
              </a:ext>
            </a:extLst>
          </p:cNvPr>
          <p:cNvSpPr/>
          <p:nvPr/>
        </p:nvSpPr>
        <p:spPr>
          <a:xfrm>
            <a:off x="487442" y="1897339"/>
            <a:ext cx="210026" cy="273010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650" dirty="0">
              <a:solidFill>
                <a:schemeClr val="tx1"/>
              </a:solidFill>
            </a:endParaRPr>
          </a:p>
        </p:txBody>
      </p:sp>
      <p:sp>
        <p:nvSpPr>
          <p:cNvPr id="85" name="Text 10">
            <a:extLst>
              <a:ext uri="{FF2B5EF4-FFF2-40B4-BE49-F238E27FC236}">
                <a16:creationId xmlns:a16="http://schemas.microsoft.com/office/drawing/2014/main" id="{ADFFC3BF-64CA-3372-2ACB-D3CB1C4CA752}"/>
              </a:ext>
            </a:extLst>
          </p:cNvPr>
          <p:cNvSpPr/>
          <p:nvPr/>
        </p:nvSpPr>
        <p:spPr>
          <a:xfrm>
            <a:off x="966669" y="1768989"/>
            <a:ext cx="1750814" cy="22764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Only 2 Subjects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6" name="Text 11">
            <a:extLst>
              <a:ext uri="{FF2B5EF4-FFF2-40B4-BE49-F238E27FC236}">
                <a16:creationId xmlns:a16="http://schemas.microsoft.com/office/drawing/2014/main" id="{9727FF63-6A80-96EC-5535-EC24E95AD9D7}"/>
              </a:ext>
            </a:extLst>
          </p:cNvPr>
          <p:cNvSpPr/>
          <p:nvPr/>
        </p:nvSpPr>
        <p:spPr>
          <a:xfrm>
            <a:off x="966669" y="2048429"/>
            <a:ext cx="8847296" cy="147161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Limited to Math and Portuguese. No Science or Engineering subjects included in the current dataset.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7" name="Shape 12">
            <a:extLst>
              <a:ext uri="{FF2B5EF4-FFF2-40B4-BE49-F238E27FC236}">
                <a16:creationId xmlns:a16="http://schemas.microsoft.com/office/drawing/2014/main" id="{04332682-EE7F-B147-C5F3-AC3850C9C630}"/>
              </a:ext>
            </a:extLst>
          </p:cNvPr>
          <p:cNvSpPr/>
          <p:nvPr/>
        </p:nvSpPr>
        <p:spPr>
          <a:xfrm>
            <a:off x="304800" y="2540514"/>
            <a:ext cx="9664422" cy="840343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5240">
            <a:solidFill>
              <a:srgbClr val="002A80"/>
            </a:solidFill>
            <a:prstDash val="solid"/>
          </a:ln>
        </p:spPr>
      </p:sp>
      <p:sp>
        <p:nvSpPr>
          <p:cNvPr id="88" name="Shape 13">
            <a:extLst>
              <a:ext uri="{FF2B5EF4-FFF2-40B4-BE49-F238E27FC236}">
                <a16:creationId xmlns:a16="http://schemas.microsoft.com/office/drawing/2014/main" id="{FC8563A1-5E55-080F-B4DE-2056944DE31A}"/>
              </a:ext>
            </a:extLst>
          </p:cNvPr>
          <p:cNvSpPr/>
          <p:nvPr/>
        </p:nvSpPr>
        <p:spPr>
          <a:xfrm>
            <a:off x="320040" y="2555754"/>
            <a:ext cx="560189" cy="809863"/>
          </a:xfrm>
          <a:prstGeom prst="roundRect">
            <a:avLst>
              <a:gd name="adj" fmla="val 7237"/>
            </a:avLst>
          </a:prstGeom>
          <a:solidFill>
            <a:schemeClr val="bg1"/>
          </a:solidFill>
          <a:ln/>
        </p:spPr>
      </p:sp>
      <p:sp>
        <p:nvSpPr>
          <p:cNvPr id="89" name="Text 14">
            <a:extLst>
              <a:ext uri="{FF2B5EF4-FFF2-40B4-BE49-F238E27FC236}">
                <a16:creationId xmlns:a16="http://schemas.microsoft.com/office/drawing/2014/main" id="{F95C7953-118E-4128-00F1-70EFF06D4A3B}"/>
              </a:ext>
            </a:extLst>
          </p:cNvPr>
          <p:cNvSpPr/>
          <p:nvPr/>
        </p:nvSpPr>
        <p:spPr>
          <a:xfrm>
            <a:off x="487442" y="2824121"/>
            <a:ext cx="210026" cy="273010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650" dirty="0">
              <a:solidFill>
                <a:schemeClr val="tx1"/>
              </a:solidFill>
            </a:endParaRPr>
          </a:p>
        </p:txBody>
      </p:sp>
      <p:sp>
        <p:nvSpPr>
          <p:cNvPr id="90" name="Text 15">
            <a:extLst>
              <a:ext uri="{FF2B5EF4-FFF2-40B4-BE49-F238E27FC236}">
                <a16:creationId xmlns:a16="http://schemas.microsoft.com/office/drawing/2014/main" id="{8EE0B9F1-2125-D8B9-845A-8884574B2B01}"/>
              </a:ext>
            </a:extLst>
          </p:cNvPr>
          <p:cNvSpPr/>
          <p:nvPr/>
        </p:nvSpPr>
        <p:spPr>
          <a:xfrm>
            <a:off x="966669" y="2695772"/>
            <a:ext cx="2213729" cy="22764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Ambiguous G3=0 Records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1" name="Text 16">
            <a:extLst>
              <a:ext uri="{FF2B5EF4-FFF2-40B4-BE49-F238E27FC236}">
                <a16:creationId xmlns:a16="http://schemas.microsoft.com/office/drawing/2014/main" id="{D44C1ABE-9D65-47E0-2A09-2F4A446FC30F}"/>
              </a:ext>
            </a:extLst>
          </p:cNvPr>
          <p:cNvSpPr/>
          <p:nvPr/>
        </p:nvSpPr>
        <p:spPr>
          <a:xfrm>
            <a:off x="966669" y="2975211"/>
            <a:ext cx="8847296" cy="147161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53 students have G3=0, likely dropouts. Currently excluded; proper dropout categorisation is needed in</a:t>
            </a:r>
          </a:p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future versions</a:t>
            </a:r>
          </a:p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2" name="Shape 17">
            <a:extLst>
              <a:ext uri="{FF2B5EF4-FFF2-40B4-BE49-F238E27FC236}">
                <a16:creationId xmlns:a16="http://schemas.microsoft.com/office/drawing/2014/main" id="{2106C6A2-E4AC-8DB7-8199-B22EBC97C23D}"/>
              </a:ext>
            </a:extLst>
          </p:cNvPr>
          <p:cNvSpPr/>
          <p:nvPr/>
        </p:nvSpPr>
        <p:spPr>
          <a:xfrm>
            <a:off x="304800" y="3467297"/>
            <a:ext cx="9664422" cy="840343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5240">
            <a:solidFill>
              <a:srgbClr val="002A80"/>
            </a:solidFill>
            <a:prstDash val="solid"/>
          </a:ln>
        </p:spPr>
      </p:sp>
      <p:sp>
        <p:nvSpPr>
          <p:cNvPr id="93" name="Shape 18">
            <a:extLst>
              <a:ext uri="{FF2B5EF4-FFF2-40B4-BE49-F238E27FC236}">
                <a16:creationId xmlns:a16="http://schemas.microsoft.com/office/drawing/2014/main" id="{212E3F87-F141-ABAB-BA78-15FD5C1D3272}"/>
              </a:ext>
            </a:extLst>
          </p:cNvPr>
          <p:cNvSpPr/>
          <p:nvPr/>
        </p:nvSpPr>
        <p:spPr>
          <a:xfrm>
            <a:off x="320040" y="3482537"/>
            <a:ext cx="560189" cy="809863"/>
          </a:xfrm>
          <a:prstGeom prst="roundRect">
            <a:avLst>
              <a:gd name="adj" fmla="val 7237"/>
            </a:avLst>
          </a:prstGeom>
          <a:solidFill>
            <a:schemeClr val="bg1"/>
          </a:solidFill>
          <a:ln/>
        </p:spPr>
      </p:sp>
      <p:sp>
        <p:nvSpPr>
          <p:cNvPr id="94" name="Text 19">
            <a:extLst>
              <a:ext uri="{FF2B5EF4-FFF2-40B4-BE49-F238E27FC236}">
                <a16:creationId xmlns:a16="http://schemas.microsoft.com/office/drawing/2014/main" id="{9C3B8E7E-599E-4BF6-FF17-9C958EBEDDF6}"/>
              </a:ext>
            </a:extLst>
          </p:cNvPr>
          <p:cNvSpPr/>
          <p:nvPr/>
        </p:nvSpPr>
        <p:spPr>
          <a:xfrm>
            <a:off x="487442" y="3750904"/>
            <a:ext cx="210026" cy="273010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650" dirty="0">
              <a:solidFill>
                <a:schemeClr val="tx1"/>
              </a:solidFill>
            </a:endParaRPr>
          </a:p>
        </p:txBody>
      </p:sp>
      <p:sp>
        <p:nvSpPr>
          <p:cNvPr id="95" name="Text 20">
            <a:extLst>
              <a:ext uri="{FF2B5EF4-FFF2-40B4-BE49-F238E27FC236}">
                <a16:creationId xmlns:a16="http://schemas.microsoft.com/office/drawing/2014/main" id="{4B1AC723-B516-722A-02CC-7CFD2E219F93}"/>
              </a:ext>
            </a:extLst>
          </p:cNvPr>
          <p:cNvSpPr/>
          <p:nvPr/>
        </p:nvSpPr>
        <p:spPr>
          <a:xfrm>
            <a:off x="966669" y="3622554"/>
            <a:ext cx="2573774" cy="22764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 Real-Time Data Integration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6" name="Text 21">
            <a:extLst>
              <a:ext uri="{FF2B5EF4-FFF2-40B4-BE49-F238E27FC236}">
                <a16:creationId xmlns:a16="http://schemas.microsoft.com/office/drawing/2014/main" id="{B0574AB7-1B9F-E937-D8F3-37A322F451BE}"/>
              </a:ext>
            </a:extLst>
          </p:cNvPr>
          <p:cNvSpPr/>
          <p:nvPr/>
        </p:nvSpPr>
        <p:spPr>
          <a:xfrm>
            <a:off x="966669" y="3901994"/>
            <a:ext cx="8847296" cy="147161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entered manually via Streamlit sliders. No LMS or school database connection has been implemented 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7" name="Shape 22">
            <a:extLst>
              <a:ext uri="{FF2B5EF4-FFF2-40B4-BE49-F238E27FC236}">
                <a16:creationId xmlns:a16="http://schemas.microsoft.com/office/drawing/2014/main" id="{9901AADE-CB28-FB96-12C9-108DDCDF8368}"/>
              </a:ext>
            </a:extLst>
          </p:cNvPr>
          <p:cNvSpPr/>
          <p:nvPr/>
        </p:nvSpPr>
        <p:spPr>
          <a:xfrm>
            <a:off x="304800" y="4394079"/>
            <a:ext cx="9664422" cy="840343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5240">
            <a:solidFill>
              <a:srgbClr val="002A80"/>
            </a:solidFill>
            <a:prstDash val="solid"/>
          </a:ln>
        </p:spPr>
      </p:sp>
      <p:sp>
        <p:nvSpPr>
          <p:cNvPr id="98" name="Shape 23">
            <a:extLst>
              <a:ext uri="{FF2B5EF4-FFF2-40B4-BE49-F238E27FC236}">
                <a16:creationId xmlns:a16="http://schemas.microsoft.com/office/drawing/2014/main" id="{0B3D54C9-83D3-C9FE-6956-9880BE3A9AAA}"/>
              </a:ext>
            </a:extLst>
          </p:cNvPr>
          <p:cNvSpPr/>
          <p:nvPr/>
        </p:nvSpPr>
        <p:spPr>
          <a:xfrm>
            <a:off x="320040" y="4409319"/>
            <a:ext cx="560189" cy="809863"/>
          </a:xfrm>
          <a:prstGeom prst="roundRect">
            <a:avLst>
              <a:gd name="adj" fmla="val 7237"/>
            </a:avLst>
          </a:prstGeom>
          <a:solidFill>
            <a:schemeClr val="bg1"/>
          </a:solidFill>
          <a:ln/>
        </p:spPr>
      </p:sp>
      <p:sp>
        <p:nvSpPr>
          <p:cNvPr id="99" name="Text 24">
            <a:extLst>
              <a:ext uri="{FF2B5EF4-FFF2-40B4-BE49-F238E27FC236}">
                <a16:creationId xmlns:a16="http://schemas.microsoft.com/office/drawing/2014/main" id="{4253E17E-E1A2-3F04-3F04-8FD9B689EF27}"/>
              </a:ext>
            </a:extLst>
          </p:cNvPr>
          <p:cNvSpPr/>
          <p:nvPr/>
        </p:nvSpPr>
        <p:spPr>
          <a:xfrm>
            <a:off x="487442" y="4677686"/>
            <a:ext cx="210026" cy="273010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1650" dirty="0">
              <a:solidFill>
                <a:schemeClr val="tx1"/>
              </a:solidFill>
            </a:endParaRPr>
          </a:p>
        </p:txBody>
      </p:sp>
      <p:sp>
        <p:nvSpPr>
          <p:cNvPr id="100" name="Text 25">
            <a:extLst>
              <a:ext uri="{FF2B5EF4-FFF2-40B4-BE49-F238E27FC236}">
                <a16:creationId xmlns:a16="http://schemas.microsoft.com/office/drawing/2014/main" id="{ECD3E766-0BF9-D1ED-F787-565D1F6D6604}"/>
              </a:ext>
            </a:extLst>
          </p:cNvPr>
          <p:cNvSpPr/>
          <p:nvPr/>
        </p:nvSpPr>
        <p:spPr>
          <a:xfrm>
            <a:off x="966669" y="4549337"/>
            <a:ext cx="2363510" cy="22764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Simplified Prediction Model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1" name="Text 26">
            <a:extLst>
              <a:ext uri="{FF2B5EF4-FFF2-40B4-BE49-F238E27FC236}">
                <a16:creationId xmlns:a16="http://schemas.microsoft.com/office/drawing/2014/main" id="{61DB24BB-CD9C-7517-458A-0334D37D3C6A}"/>
              </a:ext>
            </a:extLst>
          </p:cNvPr>
          <p:cNvSpPr/>
          <p:nvPr/>
        </p:nvSpPr>
        <p:spPr>
          <a:xfrm>
            <a:off x="966669" y="4828776"/>
            <a:ext cx="8847296" cy="147161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Hand-tuned normalised weights are used. Deep learning on larger, more diverse datasets would yield </a:t>
            </a:r>
          </a:p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greater accuracy.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2" name="Shape 27">
            <a:extLst>
              <a:ext uri="{FF2B5EF4-FFF2-40B4-BE49-F238E27FC236}">
                <a16:creationId xmlns:a16="http://schemas.microsoft.com/office/drawing/2014/main" id="{EF23DE9C-6FF9-4959-20D3-7032309347F9}"/>
              </a:ext>
            </a:extLst>
          </p:cNvPr>
          <p:cNvSpPr/>
          <p:nvPr/>
        </p:nvSpPr>
        <p:spPr>
          <a:xfrm>
            <a:off x="304800" y="5334000"/>
            <a:ext cx="9664422" cy="840343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5240">
            <a:solidFill>
              <a:srgbClr val="002A80"/>
            </a:solidFill>
            <a:prstDash val="solid"/>
          </a:ln>
        </p:spPr>
      </p:sp>
      <p:sp>
        <p:nvSpPr>
          <p:cNvPr id="103" name="Shape 28">
            <a:extLst>
              <a:ext uri="{FF2B5EF4-FFF2-40B4-BE49-F238E27FC236}">
                <a16:creationId xmlns:a16="http://schemas.microsoft.com/office/drawing/2014/main" id="{5CB4A28E-B9E5-21F8-7217-2BB821CD9605}"/>
              </a:ext>
            </a:extLst>
          </p:cNvPr>
          <p:cNvSpPr/>
          <p:nvPr/>
        </p:nvSpPr>
        <p:spPr>
          <a:xfrm>
            <a:off x="320040" y="5336102"/>
            <a:ext cx="560189" cy="809863"/>
          </a:xfrm>
          <a:prstGeom prst="roundRect">
            <a:avLst>
              <a:gd name="adj" fmla="val 7237"/>
            </a:avLst>
          </a:prstGeom>
          <a:solidFill>
            <a:schemeClr val="bg1"/>
          </a:solidFill>
          <a:ln/>
        </p:spPr>
      </p:sp>
      <p:sp>
        <p:nvSpPr>
          <p:cNvPr id="104" name="Text 29">
            <a:extLst>
              <a:ext uri="{FF2B5EF4-FFF2-40B4-BE49-F238E27FC236}">
                <a16:creationId xmlns:a16="http://schemas.microsoft.com/office/drawing/2014/main" id="{490F0D2D-6F29-AD93-4B50-C6588251B965}"/>
              </a:ext>
            </a:extLst>
          </p:cNvPr>
          <p:cNvSpPr/>
          <p:nvPr/>
        </p:nvSpPr>
        <p:spPr>
          <a:xfrm>
            <a:off x="487442" y="5604469"/>
            <a:ext cx="210026" cy="273010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</a:t>
            </a:r>
            <a:endParaRPr lang="en-US" sz="1650" dirty="0">
              <a:solidFill>
                <a:schemeClr val="tx1"/>
              </a:solidFill>
            </a:endParaRPr>
          </a:p>
        </p:txBody>
      </p:sp>
      <p:sp>
        <p:nvSpPr>
          <p:cNvPr id="105" name="Text 30">
            <a:extLst>
              <a:ext uri="{FF2B5EF4-FFF2-40B4-BE49-F238E27FC236}">
                <a16:creationId xmlns:a16="http://schemas.microsoft.com/office/drawing/2014/main" id="{1BAD7902-676D-E6F4-AA04-491100E6902A}"/>
              </a:ext>
            </a:extLst>
          </p:cNvPr>
          <p:cNvSpPr/>
          <p:nvPr/>
        </p:nvSpPr>
        <p:spPr>
          <a:xfrm>
            <a:off x="966669" y="5476119"/>
            <a:ext cx="1750814" cy="22764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 Authentication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6" name="Text 31">
            <a:extLst>
              <a:ext uri="{FF2B5EF4-FFF2-40B4-BE49-F238E27FC236}">
                <a16:creationId xmlns:a16="http://schemas.microsoft.com/office/drawing/2014/main" id="{DFE5D94C-BB52-55FB-9392-52E8A07B82C9}"/>
              </a:ext>
            </a:extLst>
          </p:cNvPr>
          <p:cNvSpPr/>
          <p:nvPr/>
        </p:nvSpPr>
        <p:spPr>
          <a:xfrm>
            <a:off x="966669" y="5755559"/>
            <a:ext cx="8847296" cy="147161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login system or role-based access control. Not yet production-ready for institution-wide deployment.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7107" y="39623"/>
            <a:ext cx="2564892" cy="9337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405ACCE4-CC4C-3167-7FFF-436F6FE4844B}"/>
              </a:ext>
            </a:extLst>
          </p:cNvPr>
          <p:cNvSpPr/>
          <p:nvPr/>
        </p:nvSpPr>
        <p:spPr>
          <a:xfrm>
            <a:off x="152400" y="215968"/>
            <a:ext cx="6257211" cy="651391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400" b="1" u="sng" dirty="0">
                <a:solidFill>
                  <a:schemeClr val="tx2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Research and References</a:t>
            </a:r>
            <a:endParaRPr lang="en-US" sz="3400" u="sng" dirty="0">
              <a:solidFill>
                <a:schemeClr val="tx2"/>
              </a:solidFill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7804409A-0B81-9546-AAC5-0B8CE8C5F31B}"/>
              </a:ext>
            </a:extLst>
          </p:cNvPr>
          <p:cNvSpPr/>
          <p:nvPr/>
        </p:nvSpPr>
        <p:spPr>
          <a:xfrm>
            <a:off x="122079" y="1147393"/>
            <a:ext cx="2406469" cy="326544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95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Dataset</a:t>
            </a:r>
            <a:endParaRPr lang="en-US" sz="1950" dirty="0">
              <a:solidFill>
                <a:schemeClr val="tx1"/>
              </a:solidFill>
            </a:endParaRPr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2466B9AF-BD57-9CE6-38DA-A86DB5D8D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8" y="1649599"/>
            <a:ext cx="45831" cy="78413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Text 2">
            <a:extLst>
              <a:ext uri="{FF2B5EF4-FFF2-40B4-BE49-F238E27FC236}">
                <a16:creationId xmlns:a16="http://schemas.microsoft.com/office/drawing/2014/main" id="{4376894D-6B55-5A31-204A-FCA290905F66}"/>
              </a:ext>
            </a:extLst>
          </p:cNvPr>
          <p:cNvSpPr/>
          <p:nvPr/>
        </p:nvSpPr>
        <p:spPr>
          <a:xfrm>
            <a:off x="368181" y="1672459"/>
            <a:ext cx="5880219" cy="73830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P. Cortez and A. Silva (2008). </a:t>
            </a:r>
            <a:r>
              <a:rPr lang="en-US" sz="1550" i="1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Using Data Mining to Predict Secondary School Student Performance.</a:t>
            </a:r>
            <a:r>
              <a:rPr lang="en-US" sz="155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UCI ML Repository.</a:t>
            </a:r>
            <a:endParaRPr lang="en-US" sz="1550" dirty="0">
              <a:solidFill>
                <a:schemeClr val="tx1"/>
              </a:solidFill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en-US" sz="1550" u="sng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archive.ics.uci.edu/dataset/320</a:t>
            </a:r>
            <a:endParaRPr lang="en-US" sz="1550" dirty="0">
              <a:solidFill>
                <a:schemeClr val="tx1"/>
              </a:solidFill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80319ECD-9CEE-6258-CE8E-EF4D60AC5A01}"/>
              </a:ext>
            </a:extLst>
          </p:cNvPr>
          <p:cNvSpPr/>
          <p:nvPr/>
        </p:nvSpPr>
        <p:spPr>
          <a:xfrm>
            <a:off x="6470554" y="1185501"/>
            <a:ext cx="1841692" cy="321902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95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Tools and Libraries</a:t>
            </a:r>
            <a:endParaRPr lang="en-US" sz="1950" dirty="0">
              <a:solidFill>
                <a:schemeClr val="tx1"/>
              </a:solidFill>
            </a:endParaRPr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F97FB549-BC32-7DCF-449B-B3C780B71AD7}"/>
              </a:ext>
            </a:extLst>
          </p:cNvPr>
          <p:cNvSpPr/>
          <p:nvPr/>
        </p:nvSpPr>
        <p:spPr>
          <a:xfrm>
            <a:off x="6523934" y="1619024"/>
            <a:ext cx="2275381" cy="1180779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9F56F114-9724-64A9-7483-312D3DAD0DED}"/>
              </a:ext>
            </a:extLst>
          </p:cNvPr>
          <p:cNvSpPr/>
          <p:nvPr/>
        </p:nvSpPr>
        <p:spPr>
          <a:xfrm>
            <a:off x="6590792" y="1842267"/>
            <a:ext cx="1841692" cy="321902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95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Scikit-learn</a:t>
            </a:r>
            <a:endParaRPr lang="en-US" sz="1950" dirty="0">
              <a:solidFill>
                <a:schemeClr val="tx1"/>
              </a:solidFill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02278AE8-5E0C-EF85-BDE7-3A41B5665C1C}"/>
              </a:ext>
            </a:extLst>
          </p:cNvPr>
          <p:cNvSpPr/>
          <p:nvPr/>
        </p:nvSpPr>
        <p:spPr>
          <a:xfrm>
            <a:off x="6628847" y="2345186"/>
            <a:ext cx="1947227" cy="24260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u="sng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scikit-learn.org</a:t>
            </a:r>
            <a:endParaRPr lang="en-US" sz="1550" dirty="0">
              <a:solidFill>
                <a:schemeClr val="tx1"/>
              </a:solidFill>
            </a:endParaRPr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950A41EA-A213-A9B3-EF17-849332607ABB}"/>
              </a:ext>
            </a:extLst>
          </p:cNvPr>
          <p:cNvSpPr/>
          <p:nvPr/>
        </p:nvSpPr>
        <p:spPr>
          <a:xfrm>
            <a:off x="9460523" y="1619024"/>
            <a:ext cx="2275469" cy="1180779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0DD23E07-E140-7422-4A8E-48FB8830810B}"/>
              </a:ext>
            </a:extLst>
          </p:cNvPr>
          <p:cNvSpPr/>
          <p:nvPr/>
        </p:nvSpPr>
        <p:spPr>
          <a:xfrm>
            <a:off x="9863820" y="1842267"/>
            <a:ext cx="1841692" cy="321902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95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Streamlit</a:t>
            </a:r>
            <a:endParaRPr lang="en-US" sz="1950" dirty="0">
              <a:solidFill>
                <a:schemeClr val="tx1"/>
              </a:solidFill>
            </a:endParaRPr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84C87617-FD93-D5ED-A74E-45590CE60247}"/>
              </a:ext>
            </a:extLst>
          </p:cNvPr>
          <p:cNvSpPr/>
          <p:nvPr/>
        </p:nvSpPr>
        <p:spPr>
          <a:xfrm>
            <a:off x="9612877" y="2303984"/>
            <a:ext cx="1947314" cy="24260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u="sng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streamlit.io</a:t>
            </a:r>
            <a:endParaRPr lang="en-US" sz="1550" dirty="0">
              <a:solidFill>
                <a:schemeClr val="tx1"/>
              </a:solidFill>
            </a:endParaRPr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383EAE34-1905-82AC-6230-37CC9F4A169C}"/>
              </a:ext>
            </a:extLst>
          </p:cNvPr>
          <p:cNvSpPr/>
          <p:nvPr/>
        </p:nvSpPr>
        <p:spPr>
          <a:xfrm>
            <a:off x="6523934" y="2991100"/>
            <a:ext cx="2275381" cy="1180779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D5C2EFF6-2211-CD70-70B9-2025347E6F16}"/>
              </a:ext>
            </a:extLst>
          </p:cNvPr>
          <p:cNvSpPr/>
          <p:nvPr/>
        </p:nvSpPr>
        <p:spPr>
          <a:xfrm>
            <a:off x="6590792" y="3214343"/>
            <a:ext cx="1841692" cy="321902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95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Plotly</a:t>
            </a:r>
            <a:endParaRPr lang="en-US" sz="1950" dirty="0">
              <a:solidFill>
                <a:schemeClr val="tx1"/>
              </a:solidFill>
            </a:endParaRPr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C436E610-F10F-4FFC-1819-DD013CB61C5C}"/>
              </a:ext>
            </a:extLst>
          </p:cNvPr>
          <p:cNvSpPr/>
          <p:nvPr/>
        </p:nvSpPr>
        <p:spPr>
          <a:xfrm>
            <a:off x="6628847" y="3717262"/>
            <a:ext cx="1947227" cy="24260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u="sng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plotly.com/python</a:t>
            </a:r>
            <a:endParaRPr lang="en-US" sz="1550" dirty="0">
              <a:solidFill>
                <a:schemeClr val="tx1"/>
              </a:solidFill>
            </a:endParaRPr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784C859B-D5BA-E279-9E26-C325DCB2C866}"/>
              </a:ext>
            </a:extLst>
          </p:cNvPr>
          <p:cNvSpPr/>
          <p:nvPr/>
        </p:nvSpPr>
        <p:spPr>
          <a:xfrm>
            <a:off x="9448800" y="2991100"/>
            <a:ext cx="2275469" cy="1180779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2A1D83E1-6FC9-F361-2197-3A838EC813CA}"/>
              </a:ext>
            </a:extLst>
          </p:cNvPr>
          <p:cNvSpPr/>
          <p:nvPr/>
        </p:nvSpPr>
        <p:spPr>
          <a:xfrm>
            <a:off x="9700956" y="3201133"/>
            <a:ext cx="1841692" cy="321902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950" b="1" dirty="0">
                <a:solidFill>
                  <a:schemeClr val="tx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UCI Repository</a:t>
            </a:r>
            <a:endParaRPr lang="en-US" sz="1950" dirty="0">
              <a:solidFill>
                <a:schemeClr val="tx1"/>
              </a:solidFill>
            </a:endParaRPr>
          </a:p>
        </p:txBody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22BA7118-418C-681D-3570-C5D4BA8F5394}"/>
              </a:ext>
            </a:extLst>
          </p:cNvPr>
          <p:cNvSpPr/>
          <p:nvPr/>
        </p:nvSpPr>
        <p:spPr>
          <a:xfrm>
            <a:off x="9656310" y="3638186"/>
            <a:ext cx="1947314" cy="24260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u="sng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archive.ics.uci.edu</a:t>
            </a:r>
            <a:endParaRPr lang="en-US" sz="1550" dirty="0">
              <a:solidFill>
                <a:schemeClr val="tx1"/>
              </a:solidFill>
            </a:endParaRPr>
          </a:p>
        </p:txBody>
      </p:sp>
      <p:sp>
        <p:nvSpPr>
          <p:cNvPr id="37" name="Shape 22">
            <a:extLst>
              <a:ext uri="{FF2B5EF4-FFF2-40B4-BE49-F238E27FC236}">
                <a16:creationId xmlns:a16="http://schemas.microsoft.com/office/drawing/2014/main" id="{D06A5025-A91C-9A9A-649E-E799F4B88717}"/>
              </a:ext>
            </a:extLst>
          </p:cNvPr>
          <p:cNvSpPr/>
          <p:nvPr/>
        </p:nvSpPr>
        <p:spPr>
          <a:xfrm>
            <a:off x="7391400" y="4385322"/>
            <a:ext cx="4681062" cy="1693988"/>
          </a:xfrm>
          <a:prstGeom prst="roundRect">
            <a:avLst>
              <a:gd name="adj" fmla="val 4912"/>
            </a:avLst>
          </a:prstGeom>
          <a:solidFill>
            <a:schemeClr val="bg1"/>
          </a:solidFill>
          <a:ln/>
        </p:spPr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E6F58197-A2DC-13F4-1B55-2E0F376C0856}"/>
              </a:ext>
            </a:extLst>
          </p:cNvPr>
          <p:cNvSpPr/>
          <p:nvPr/>
        </p:nvSpPr>
        <p:spPr>
          <a:xfrm>
            <a:off x="6590792" y="4377918"/>
            <a:ext cx="4055118" cy="121301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Project Summary:</a:t>
            </a:r>
            <a:r>
              <a:rPr lang="en-US" sz="1550" dirty="0">
                <a:solidFill>
                  <a:schemeClr val="tx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This project demonstrates that Explainable AI can be practically applied in education — delivering accurate predictions (R²=0.808) while remaining fully transparent, free, and accessible to any institution worldwide.</a:t>
            </a:r>
            <a:endParaRPr lang="en-US" sz="155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59E3AA-DDCE-6F2E-605E-5A60DE0C35ED}"/>
              </a:ext>
            </a:extLst>
          </p:cNvPr>
          <p:cNvSpPr txBox="1"/>
          <p:nvPr/>
        </p:nvSpPr>
        <p:spPr>
          <a:xfrm>
            <a:off x="164690" y="2799803"/>
            <a:ext cx="61500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taken from the UCI Machine Learning Repository, published by P. Cortez in 2008. For the Explainable AI part, I referred to the SHAP paper by Lundberg and Lee from 2017, which is the industry standard method for explaining model predictions. All libraries used — Scikit-learn,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are open-source and free.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>
            <a:extLst>
              <a:ext uri="{FF2B5EF4-FFF2-40B4-BE49-F238E27FC236}">
                <a16:creationId xmlns:a16="http://schemas.microsoft.com/office/drawing/2014/main" id="{F7BB581D-E5E9-E63D-ECDA-8D95021B9ED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7107" y="39623"/>
            <a:ext cx="2564892" cy="933798"/>
          </a:xfrm>
          <a:prstGeom prst="rect">
            <a:avLst/>
          </a:prstGeom>
        </p:spPr>
      </p:pic>
      <p:sp>
        <p:nvSpPr>
          <p:cNvPr id="3" name="object 7">
            <a:extLst>
              <a:ext uri="{FF2B5EF4-FFF2-40B4-BE49-F238E27FC236}">
                <a16:creationId xmlns:a16="http://schemas.microsoft.com/office/drawing/2014/main" id="{AA949440-C963-3B74-4F5F-3ABD1F1361A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962271" y="6445817"/>
            <a:ext cx="257492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C831DDD8-5E31-A25C-3B3B-68836ABAF40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310873" y="6445817"/>
            <a:ext cx="2317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B5D054EB-D416-C170-284C-BE797125D299}"/>
              </a:ext>
            </a:extLst>
          </p:cNvPr>
          <p:cNvSpPr/>
          <p:nvPr/>
        </p:nvSpPr>
        <p:spPr>
          <a:xfrm>
            <a:off x="152400" y="215968"/>
            <a:ext cx="6257211" cy="651391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IN" sz="3400" b="1" u="sng" dirty="0">
                <a:solidFill>
                  <a:schemeClr val="tx2"/>
                </a:solidFill>
              </a:rPr>
              <a:t>Future Works and Upgradation</a:t>
            </a:r>
            <a:endParaRPr lang="en-US" sz="3400" b="1" u="sng" dirty="0">
              <a:solidFill>
                <a:schemeClr val="tx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66B031-F452-3808-546D-FE37872691E8}"/>
              </a:ext>
            </a:extLst>
          </p:cNvPr>
          <p:cNvSpPr txBox="1"/>
          <p:nvPr/>
        </p:nvSpPr>
        <p:spPr>
          <a:xfrm>
            <a:off x="152400" y="1219201"/>
            <a:ext cx="11887200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Replace </a:t>
            </a:r>
            <a:r>
              <a:rPr lang="en-US" dirty="0" err="1"/>
              <a:t>normalised</a:t>
            </a:r>
            <a:r>
              <a:rPr lang="en-US" dirty="0"/>
              <a:t> model with a trained deep learning model (Neural Network) for higher prediction accuracy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Add login system with role-based access — separate views for teacher, student, and admin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Add SMS or email alert system to automatically notify teachers when a student is flagged as at-risk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Deploy the application on cloud (AWS / Google Cloud / Heroku) so it can be accessed from any device without local installation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2803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</TotalTime>
  <Words>1201</Words>
  <Application>Microsoft Office PowerPoint</Application>
  <PresentationFormat>Widescreen</PresentationFormat>
  <Paragraphs>162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MT</vt:lpstr>
      <vt:lpstr>Geist</vt:lpstr>
      <vt:lpstr>Geist Bold</vt:lpstr>
      <vt:lpstr>Times New Roman</vt:lpstr>
      <vt:lpstr>Wingdings</vt:lpstr>
      <vt:lpstr>Office Theme</vt:lpstr>
      <vt:lpstr>MINI PROJECT II YEAR</vt:lpstr>
      <vt:lpstr>PowerPoint Presentation</vt:lpstr>
      <vt:lpstr>PowerPoint Presentation</vt:lpstr>
      <vt:lpstr>PowerPoint Presentation</vt:lpstr>
      <vt:lpstr>Project Files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Ravi Gupta</cp:lastModifiedBy>
  <cp:revision>12</cp:revision>
  <dcterms:created xsi:type="dcterms:W3CDTF">2026-03-12T05:00:15Z</dcterms:created>
  <dcterms:modified xsi:type="dcterms:W3CDTF">2026-03-17T08:23:33Z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2026-03-12T00:00:00Z</vt:filetime>
  </property>
  <property fmtid="{D5CDD505-2E9C-101B-9397-08002B2CF9AE}" pid="5" name="Producer">
    <vt:lpwstr>Microsoft® PowerPoint® 2013</vt:lpwstr>
  </property>
</Properties>
</file>